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65" r:id="rId2"/>
  </p:sldIdLst>
  <p:sldSz cx="155448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6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4"/>
  </p:normalViewPr>
  <p:slideViewPr>
    <p:cSldViewPr snapToGrid="0">
      <p:cViewPr varScale="1">
        <p:scale>
          <a:sx n="84" d="100"/>
          <a:sy n="84" d="100"/>
        </p:scale>
        <p:origin x="196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52B2A-AA55-F64D-8059-A7C7929A03D2}" type="datetimeFigureOut">
              <a:rPr lang="en-US" smtClean="0"/>
              <a:t>12/1/25</a:t>
            </a:fld>
            <a:endParaRPr lang="en-US"/>
          </a:p>
        </p:txBody>
      </p:sp>
      <p:sp>
        <p:nvSpPr>
          <p:cNvPr id="4" name="Slide Image Placeholder 3"/>
          <p:cNvSpPr>
            <a:spLocks noGrp="1" noRot="1" noChangeAspect="1"/>
          </p:cNvSpPr>
          <p:nvPr>
            <p:ph type="sldImg" idx="2"/>
          </p:nvPr>
        </p:nvSpPr>
        <p:spPr>
          <a:xfrm>
            <a:off x="1044575" y="1143000"/>
            <a:ext cx="47688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B09C7-5BFE-BF44-A326-D788C0A51B14}" type="slidenum">
              <a:rPr lang="en-US" smtClean="0"/>
              <a:t>‹#›</a:t>
            </a:fld>
            <a:endParaRPr lang="en-US"/>
          </a:p>
        </p:txBody>
      </p:sp>
    </p:spTree>
    <p:extLst>
      <p:ext uri="{BB962C8B-B14F-4D97-AF65-F5344CB8AC3E}">
        <p14:creationId xmlns:p14="http://schemas.microsoft.com/office/powerpoint/2010/main" val="2029870360"/>
      </p:ext>
    </p:extLst>
  </p:cSld>
  <p:clrMap bg1="lt1" tx1="dk1" bg2="lt2" tx2="dk2" accent1="accent1" accent2="accent2" accent3="accent3" accent4="accent4" accent5="accent5" accent6="accent6" hlink="hlink" folHlink="folHlink"/>
  <p:notesStyle>
    <a:lvl1pPr marL="0" algn="l" defTabSz="1228954" rtl="0" eaLnBrk="1" latinLnBrk="0" hangingPunct="1">
      <a:defRPr sz="1613" kern="1200">
        <a:solidFill>
          <a:schemeClr val="tx1"/>
        </a:solidFill>
        <a:latin typeface="+mn-lt"/>
        <a:ea typeface="+mn-ea"/>
        <a:cs typeface="+mn-cs"/>
      </a:defRPr>
    </a:lvl1pPr>
    <a:lvl2pPr marL="614477" algn="l" defTabSz="1228954" rtl="0" eaLnBrk="1" latinLnBrk="0" hangingPunct="1">
      <a:defRPr sz="1613" kern="1200">
        <a:solidFill>
          <a:schemeClr val="tx1"/>
        </a:solidFill>
        <a:latin typeface="+mn-lt"/>
        <a:ea typeface="+mn-ea"/>
        <a:cs typeface="+mn-cs"/>
      </a:defRPr>
    </a:lvl2pPr>
    <a:lvl3pPr marL="1228954" algn="l" defTabSz="1228954" rtl="0" eaLnBrk="1" latinLnBrk="0" hangingPunct="1">
      <a:defRPr sz="1613" kern="1200">
        <a:solidFill>
          <a:schemeClr val="tx1"/>
        </a:solidFill>
        <a:latin typeface="+mn-lt"/>
        <a:ea typeface="+mn-ea"/>
        <a:cs typeface="+mn-cs"/>
      </a:defRPr>
    </a:lvl3pPr>
    <a:lvl4pPr marL="1843430" algn="l" defTabSz="1228954" rtl="0" eaLnBrk="1" latinLnBrk="0" hangingPunct="1">
      <a:defRPr sz="1613" kern="1200">
        <a:solidFill>
          <a:schemeClr val="tx1"/>
        </a:solidFill>
        <a:latin typeface="+mn-lt"/>
        <a:ea typeface="+mn-ea"/>
        <a:cs typeface="+mn-cs"/>
      </a:defRPr>
    </a:lvl4pPr>
    <a:lvl5pPr marL="2457907" algn="l" defTabSz="1228954" rtl="0" eaLnBrk="1" latinLnBrk="0" hangingPunct="1">
      <a:defRPr sz="1613" kern="1200">
        <a:solidFill>
          <a:schemeClr val="tx1"/>
        </a:solidFill>
        <a:latin typeface="+mn-lt"/>
        <a:ea typeface="+mn-ea"/>
        <a:cs typeface="+mn-cs"/>
      </a:defRPr>
    </a:lvl5pPr>
    <a:lvl6pPr marL="3072384" algn="l" defTabSz="1228954" rtl="0" eaLnBrk="1" latinLnBrk="0" hangingPunct="1">
      <a:defRPr sz="1613" kern="1200">
        <a:solidFill>
          <a:schemeClr val="tx1"/>
        </a:solidFill>
        <a:latin typeface="+mn-lt"/>
        <a:ea typeface="+mn-ea"/>
        <a:cs typeface="+mn-cs"/>
      </a:defRPr>
    </a:lvl6pPr>
    <a:lvl7pPr marL="3686861" algn="l" defTabSz="1228954" rtl="0" eaLnBrk="1" latinLnBrk="0" hangingPunct="1">
      <a:defRPr sz="1613" kern="1200">
        <a:solidFill>
          <a:schemeClr val="tx1"/>
        </a:solidFill>
        <a:latin typeface="+mn-lt"/>
        <a:ea typeface="+mn-ea"/>
        <a:cs typeface="+mn-cs"/>
      </a:defRPr>
    </a:lvl7pPr>
    <a:lvl8pPr marL="4301338" algn="l" defTabSz="1228954" rtl="0" eaLnBrk="1" latinLnBrk="0" hangingPunct="1">
      <a:defRPr sz="1613" kern="1200">
        <a:solidFill>
          <a:schemeClr val="tx1"/>
        </a:solidFill>
        <a:latin typeface="+mn-lt"/>
        <a:ea typeface="+mn-ea"/>
        <a:cs typeface="+mn-cs"/>
      </a:defRPr>
    </a:lvl8pPr>
    <a:lvl9pPr marL="4915814" algn="l" defTabSz="1228954" rtl="0" eaLnBrk="1" latinLnBrk="0" hangingPunct="1">
      <a:defRPr sz="161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BB09C7-5BFE-BF44-A326-D788C0A51B14}" type="slidenum">
              <a:rPr lang="en-US" smtClean="0"/>
              <a:t>1</a:t>
            </a:fld>
            <a:endParaRPr lang="en-US"/>
          </a:p>
        </p:txBody>
      </p:sp>
    </p:spTree>
    <p:extLst>
      <p:ext uri="{BB962C8B-B14F-4D97-AF65-F5344CB8AC3E}">
        <p14:creationId xmlns:p14="http://schemas.microsoft.com/office/powerpoint/2010/main" val="248216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5860" y="1646133"/>
            <a:ext cx="13213080" cy="3501813"/>
          </a:xfrm>
        </p:spPr>
        <p:txBody>
          <a:bodyPr anchor="b"/>
          <a:lstStyle>
            <a:lvl1pPr algn="ctr">
              <a:defRPr sz="8800"/>
            </a:lvl1pPr>
          </a:lstStyle>
          <a:p>
            <a:r>
              <a:rPr lang="en-US"/>
              <a:t>Click to edit Master title style</a:t>
            </a:r>
            <a:endParaRPr lang="en-US" dirty="0"/>
          </a:p>
        </p:txBody>
      </p:sp>
      <p:sp>
        <p:nvSpPr>
          <p:cNvPr id="3" name="Subtitle 2"/>
          <p:cNvSpPr>
            <a:spLocks noGrp="1"/>
          </p:cNvSpPr>
          <p:nvPr>
            <p:ph type="subTitle" idx="1"/>
          </p:nvPr>
        </p:nvSpPr>
        <p:spPr>
          <a:xfrm>
            <a:off x="1943100" y="5282989"/>
            <a:ext cx="11658600" cy="2428451"/>
          </a:xfrm>
        </p:spPr>
        <p:txBody>
          <a:bodyPr/>
          <a:lstStyle>
            <a:lvl1pPr marL="0" indent="0" algn="ctr">
              <a:buNone/>
              <a:defRPr sz="3520"/>
            </a:lvl1pPr>
            <a:lvl2pPr marL="670575" indent="0" algn="ctr">
              <a:buNone/>
              <a:defRPr sz="2933"/>
            </a:lvl2pPr>
            <a:lvl3pPr marL="1341150" indent="0" algn="ctr">
              <a:buNone/>
              <a:defRPr sz="2640"/>
            </a:lvl3pPr>
            <a:lvl4pPr marL="2011726" indent="0" algn="ctr">
              <a:buNone/>
              <a:defRPr sz="2347"/>
            </a:lvl4pPr>
            <a:lvl5pPr marL="2682301" indent="0" algn="ctr">
              <a:buNone/>
              <a:defRPr sz="2347"/>
            </a:lvl5pPr>
            <a:lvl6pPr marL="3352876" indent="0" algn="ctr">
              <a:buNone/>
              <a:defRPr sz="2347"/>
            </a:lvl6pPr>
            <a:lvl7pPr marL="4023451" indent="0" algn="ctr">
              <a:buNone/>
              <a:defRPr sz="2347"/>
            </a:lvl7pPr>
            <a:lvl8pPr marL="4694027" indent="0" algn="ctr">
              <a:buNone/>
              <a:defRPr sz="2347"/>
            </a:lvl8pPr>
            <a:lvl9pPr marL="5364602" indent="0" algn="ctr">
              <a:buNone/>
              <a:defRPr sz="234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5BD8ED-7142-1E42-B3EC-0EAF05734523}"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552798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5BD8ED-7142-1E42-B3EC-0EAF05734523}"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4269580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610" y="2507618"/>
            <a:ext cx="13407390" cy="4184014"/>
          </a:xfrm>
        </p:spPr>
        <p:txBody>
          <a:bodyPr anchor="b"/>
          <a:lstStyle>
            <a:lvl1pPr>
              <a:defRPr sz="8800"/>
            </a:lvl1pPr>
          </a:lstStyle>
          <a:p>
            <a:r>
              <a:rPr lang="en-US"/>
              <a:t>Click to edit Master title style</a:t>
            </a:r>
            <a:endParaRPr lang="en-US" dirty="0"/>
          </a:p>
        </p:txBody>
      </p:sp>
      <p:sp>
        <p:nvSpPr>
          <p:cNvPr id="3" name="Text Placeholder 2"/>
          <p:cNvSpPr>
            <a:spLocks noGrp="1"/>
          </p:cNvSpPr>
          <p:nvPr>
            <p:ph type="body" idx="1"/>
          </p:nvPr>
        </p:nvSpPr>
        <p:spPr>
          <a:xfrm>
            <a:off x="1060610" y="6731215"/>
            <a:ext cx="13407390" cy="2200274"/>
          </a:xfrm>
        </p:spPr>
        <p:txBody>
          <a:bodyPr/>
          <a:lstStyle>
            <a:lvl1pPr marL="0" indent="0">
              <a:buNone/>
              <a:defRPr sz="3520">
                <a:solidFill>
                  <a:schemeClr val="tx1"/>
                </a:solidFill>
              </a:defRPr>
            </a:lvl1pPr>
            <a:lvl2pPr marL="670575" indent="0">
              <a:buNone/>
              <a:defRPr sz="2933">
                <a:solidFill>
                  <a:schemeClr val="tx1">
                    <a:tint val="75000"/>
                  </a:schemeClr>
                </a:solidFill>
              </a:defRPr>
            </a:lvl2pPr>
            <a:lvl3pPr marL="1341150" indent="0">
              <a:buNone/>
              <a:defRPr sz="2640">
                <a:solidFill>
                  <a:schemeClr val="tx1">
                    <a:tint val="75000"/>
                  </a:schemeClr>
                </a:solidFill>
              </a:defRPr>
            </a:lvl3pPr>
            <a:lvl4pPr marL="2011726" indent="0">
              <a:buNone/>
              <a:defRPr sz="2347">
                <a:solidFill>
                  <a:schemeClr val="tx1">
                    <a:tint val="75000"/>
                  </a:schemeClr>
                </a:solidFill>
              </a:defRPr>
            </a:lvl4pPr>
            <a:lvl5pPr marL="2682301" indent="0">
              <a:buNone/>
              <a:defRPr sz="2347">
                <a:solidFill>
                  <a:schemeClr val="tx1">
                    <a:tint val="75000"/>
                  </a:schemeClr>
                </a:solidFill>
              </a:defRPr>
            </a:lvl5pPr>
            <a:lvl6pPr marL="3352876" indent="0">
              <a:buNone/>
              <a:defRPr sz="2347">
                <a:solidFill>
                  <a:schemeClr val="tx1">
                    <a:tint val="75000"/>
                  </a:schemeClr>
                </a:solidFill>
              </a:defRPr>
            </a:lvl6pPr>
            <a:lvl7pPr marL="4023451" indent="0">
              <a:buNone/>
              <a:defRPr sz="2347">
                <a:solidFill>
                  <a:schemeClr val="tx1">
                    <a:tint val="75000"/>
                  </a:schemeClr>
                </a:solidFill>
              </a:defRPr>
            </a:lvl7pPr>
            <a:lvl8pPr marL="4694027" indent="0">
              <a:buNone/>
              <a:defRPr sz="2347">
                <a:solidFill>
                  <a:schemeClr val="tx1">
                    <a:tint val="75000"/>
                  </a:schemeClr>
                </a:solidFill>
              </a:defRPr>
            </a:lvl8pPr>
            <a:lvl9pPr marL="5364602" indent="0">
              <a:buNone/>
              <a:defRPr sz="234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5BD8ED-7142-1E42-B3EC-0EAF05734523}"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1661853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8705" y="2677584"/>
            <a:ext cx="660654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69555" y="2677584"/>
            <a:ext cx="660654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5BD8ED-7142-1E42-B3EC-0EAF05734523}"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356525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730" y="535519"/>
            <a:ext cx="13407390"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0731" y="2465706"/>
            <a:ext cx="6576178" cy="1208404"/>
          </a:xfrm>
        </p:spPr>
        <p:txBody>
          <a:bodyPr anchor="b"/>
          <a:lstStyle>
            <a:lvl1pPr marL="0" indent="0">
              <a:buNone/>
              <a:defRPr sz="3520" b="1"/>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Click to edit Master text styles</a:t>
            </a:r>
          </a:p>
        </p:txBody>
      </p:sp>
      <p:sp>
        <p:nvSpPr>
          <p:cNvPr id="4" name="Content Placeholder 3"/>
          <p:cNvSpPr>
            <a:spLocks noGrp="1"/>
          </p:cNvSpPr>
          <p:nvPr>
            <p:ph sz="half" idx="2"/>
          </p:nvPr>
        </p:nvSpPr>
        <p:spPr>
          <a:xfrm>
            <a:off x="1070731" y="3674110"/>
            <a:ext cx="6576178"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69556" y="2465706"/>
            <a:ext cx="6608565" cy="1208404"/>
          </a:xfrm>
        </p:spPr>
        <p:txBody>
          <a:bodyPr anchor="b"/>
          <a:lstStyle>
            <a:lvl1pPr marL="0" indent="0">
              <a:buNone/>
              <a:defRPr sz="3520" b="1"/>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Click to edit Master text styles</a:t>
            </a:r>
          </a:p>
        </p:txBody>
      </p:sp>
      <p:sp>
        <p:nvSpPr>
          <p:cNvPr id="6" name="Content Placeholder 5"/>
          <p:cNvSpPr>
            <a:spLocks noGrp="1"/>
          </p:cNvSpPr>
          <p:nvPr>
            <p:ph sz="quarter" idx="4"/>
          </p:nvPr>
        </p:nvSpPr>
        <p:spPr>
          <a:xfrm>
            <a:off x="7869556" y="3674110"/>
            <a:ext cx="6608565"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5BD8ED-7142-1E42-B3EC-0EAF05734523}" type="datetimeFigureOut">
              <a:rPr lang="en-US" smtClean="0"/>
              <a:t>12/1/25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2199909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5BD8ED-7142-1E42-B3EC-0EAF05734523}" type="datetimeFigureOut">
              <a:rPr lang="en-US" smtClean="0"/>
              <a:t>12/1/25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949091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BD8ED-7142-1E42-B3EC-0EAF05734523}" type="datetimeFigureOut">
              <a:rPr lang="en-US" smtClean="0"/>
              <a:t>12/1/25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3604412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670560"/>
            <a:ext cx="5013603" cy="2346960"/>
          </a:xfrm>
        </p:spPr>
        <p:txBody>
          <a:bodyPr anchor="b"/>
          <a:lstStyle>
            <a:lvl1pPr>
              <a:defRPr sz="4693"/>
            </a:lvl1pPr>
          </a:lstStyle>
          <a:p>
            <a:r>
              <a:rPr lang="en-US"/>
              <a:t>Click to edit Master title style</a:t>
            </a:r>
            <a:endParaRPr lang="en-US" dirty="0"/>
          </a:p>
        </p:txBody>
      </p:sp>
      <p:sp>
        <p:nvSpPr>
          <p:cNvPr id="3" name="Content Placeholder 2"/>
          <p:cNvSpPr>
            <a:spLocks noGrp="1"/>
          </p:cNvSpPr>
          <p:nvPr>
            <p:ph idx="1"/>
          </p:nvPr>
        </p:nvSpPr>
        <p:spPr>
          <a:xfrm>
            <a:off x="6608565" y="1448226"/>
            <a:ext cx="7869555" cy="7147983"/>
          </a:xfrm>
        </p:spPr>
        <p:txBody>
          <a:bodyPr/>
          <a:lstStyle>
            <a:lvl1pPr>
              <a:defRPr sz="4693"/>
            </a:lvl1pPr>
            <a:lvl2pPr>
              <a:defRPr sz="4107"/>
            </a:lvl2pPr>
            <a:lvl3pPr>
              <a:defRPr sz="3520"/>
            </a:lvl3pPr>
            <a:lvl4pPr>
              <a:defRPr sz="2933"/>
            </a:lvl4pPr>
            <a:lvl5pPr>
              <a:defRPr sz="2933"/>
            </a:lvl5pPr>
            <a:lvl6pPr>
              <a:defRPr sz="2933"/>
            </a:lvl6pPr>
            <a:lvl7pPr>
              <a:defRPr sz="2933"/>
            </a:lvl7pPr>
            <a:lvl8pPr>
              <a:defRPr sz="2933"/>
            </a:lvl8pPr>
            <a:lvl9pPr>
              <a:defRPr sz="29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0730" y="3017520"/>
            <a:ext cx="5013603" cy="5590329"/>
          </a:xfrm>
        </p:spPr>
        <p:txBody>
          <a:bodyPr/>
          <a:lstStyle>
            <a:lvl1pPr marL="0" indent="0">
              <a:buNone/>
              <a:defRPr sz="2347"/>
            </a:lvl1pPr>
            <a:lvl2pPr marL="670575" indent="0">
              <a:buNone/>
              <a:defRPr sz="2053"/>
            </a:lvl2pPr>
            <a:lvl3pPr marL="1341150" indent="0">
              <a:buNone/>
              <a:defRPr sz="1760"/>
            </a:lvl3pPr>
            <a:lvl4pPr marL="2011726" indent="0">
              <a:buNone/>
              <a:defRPr sz="1467"/>
            </a:lvl4pPr>
            <a:lvl5pPr marL="2682301" indent="0">
              <a:buNone/>
              <a:defRPr sz="1467"/>
            </a:lvl5pPr>
            <a:lvl6pPr marL="3352876" indent="0">
              <a:buNone/>
              <a:defRPr sz="1467"/>
            </a:lvl6pPr>
            <a:lvl7pPr marL="4023451" indent="0">
              <a:buNone/>
              <a:defRPr sz="1467"/>
            </a:lvl7pPr>
            <a:lvl8pPr marL="4694027" indent="0">
              <a:buNone/>
              <a:defRPr sz="1467"/>
            </a:lvl8pPr>
            <a:lvl9pPr marL="5364602" indent="0">
              <a:buNone/>
              <a:defRPr sz="1467"/>
            </a:lvl9pPr>
          </a:lstStyle>
          <a:p>
            <a:pPr lvl="0"/>
            <a:r>
              <a:rPr lang="en-US"/>
              <a:t>Click to edit Master text styles</a:t>
            </a:r>
          </a:p>
        </p:txBody>
      </p:sp>
      <p:sp>
        <p:nvSpPr>
          <p:cNvPr id="5" name="Date Placeholder 4"/>
          <p:cNvSpPr>
            <a:spLocks noGrp="1"/>
          </p:cNvSpPr>
          <p:nvPr>
            <p:ph type="dt" sz="half" idx="10"/>
          </p:nvPr>
        </p:nvSpPr>
        <p:spPr/>
        <p:txBody>
          <a:bodyPr/>
          <a:lstStyle/>
          <a:p>
            <a:fld id="{F75BD8ED-7142-1E42-B3EC-0EAF05734523}"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297320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670560"/>
            <a:ext cx="5013603" cy="2346960"/>
          </a:xfrm>
        </p:spPr>
        <p:txBody>
          <a:bodyPr anchor="b"/>
          <a:lstStyle>
            <a:lvl1pPr>
              <a:defRPr sz="4693"/>
            </a:lvl1pPr>
          </a:lstStyle>
          <a:p>
            <a:r>
              <a:rPr lang="en-US"/>
              <a:t>Click to edit Master title style</a:t>
            </a:r>
            <a:endParaRPr lang="en-US" dirty="0"/>
          </a:p>
        </p:txBody>
      </p:sp>
      <p:sp>
        <p:nvSpPr>
          <p:cNvPr id="3" name="Picture Placeholder 2"/>
          <p:cNvSpPr>
            <a:spLocks noGrp="1" noChangeAspect="1"/>
          </p:cNvSpPr>
          <p:nvPr>
            <p:ph type="pic" idx="1"/>
          </p:nvPr>
        </p:nvSpPr>
        <p:spPr>
          <a:xfrm>
            <a:off x="6608565" y="1448226"/>
            <a:ext cx="7869555" cy="7147983"/>
          </a:xfrm>
        </p:spPr>
        <p:txBody>
          <a:bodyPr anchor="t"/>
          <a:lstStyle>
            <a:lvl1pPr marL="0" indent="0">
              <a:buNone/>
              <a:defRPr sz="4693"/>
            </a:lvl1pPr>
            <a:lvl2pPr marL="670575" indent="0">
              <a:buNone/>
              <a:defRPr sz="4107"/>
            </a:lvl2pPr>
            <a:lvl3pPr marL="1341150" indent="0">
              <a:buNone/>
              <a:defRPr sz="3520"/>
            </a:lvl3pPr>
            <a:lvl4pPr marL="2011726" indent="0">
              <a:buNone/>
              <a:defRPr sz="2933"/>
            </a:lvl4pPr>
            <a:lvl5pPr marL="2682301" indent="0">
              <a:buNone/>
              <a:defRPr sz="2933"/>
            </a:lvl5pPr>
            <a:lvl6pPr marL="3352876" indent="0">
              <a:buNone/>
              <a:defRPr sz="2933"/>
            </a:lvl6pPr>
            <a:lvl7pPr marL="4023451" indent="0">
              <a:buNone/>
              <a:defRPr sz="2933"/>
            </a:lvl7pPr>
            <a:lvl8pPr marL="4694027" indent="0">
              <a:buNone/>
              <a:defRPr sz="2933"/>
            </a:lvl8pPr>
            <a:lvl9pPr marL="5364602" indent="0">
              <a:buNone/>
              <a:defRPr sz="2933"/>
            </a:lvl9pPr>
          </a:lstStyle>
          <a:p>
            <a:r>
              <a:rPr lang="en-US"/>
              <a:t>Click icon to add picture</a:t>
            </a:r>
            <a:endParaRPr lang="en-US" dirty="0"/>
          </a:p>
        </p:txBody>
      </p:sp>
      <p:sp>
        <p:nvSpPr>
          <p:cNvPr id="4" name="Text Placeholder 3"/>
          <p:cNvSpPr>
            <a:spLocks noGrp="1"/>
          </p:cNvSpPr>
          <p:nvPr>
            <p:ph type="body" sz="half" idx="2"/>
          </p:nvPr>
        </p:nvSpPr>
        <p:spPr>
          <a:xfrm>
            <a:off x="1070730" y="3017520"/>
            <a:ext cx="5013603" cy="5590329"/>
          </a:xfrm>
        </p:spPr>
        <p:txBody>
          <a:bodyPr/>
          <a:lstStyle>
            <a:lvl1pPr marL="0" indent="0">
              <a:buNone/>
              <a:defRPr sz="2347"/>
            </a:lvl1pPr>
            <a:lvl2pPr marL="670575" indent="0">
              <a:buNone/>
              <a:defRPr sz="2053"/>
            </a:lvl2pPr>
            <a:lvl3pPr marL="1341150" indent="0">
              <a:buNone/>
              <a:defRPr sz="1760"/>
            </a:lvl3pPr>
            <a:lvl4pPr marL="2011726" indent="0">
              <a:buNone/>
              <a:defRPr sz="1467"/>
            </a:lvl4pPr>
            <a:lvl5pPr marL="2682301" indent="0">
              <a:buNone/>
              <a:defRPr sz="1467"/>
            </a:lvl5pPr>
            <a:lvl6pPr marL="3352876" indent="0">
              <a:buNone/>
              <a:defRPr sz="1467"/>
            </a:lvl6pPr>
            <a:lvl7pPr marL="4023451" indent="0">
              <a:buNone/>
              <a:defRPr sz="1467"/>
            </a:lvl7pPr>
            <a:lvl8pPr marL="4694027" indent="0">
              <a:buNone/>
              <a:defRPr sz="1467"/>
            </a:lvl8pPr>
            <a:lvl9pPr marL="5364602" indent="0">
              <a:buNone/>
              <a:defRPr sz="1467"/>
            </a:lvl9pPr>
          </a:lstStyle>
          <a:p>
            <a:pPr lvl="0"/>
            <a:r>
              <a:rPr lang="en-US"/>
              <a:t>Click to edit Master text styles</a:t>
            </a:r>
          </a:p>
        </p:txBody>
      </p:sp>
      <p:sp>
        <p:nvSpPr>
          <p:cNvPr id="5" name="Date Placeholder 4"/>
          <p:cNvSpPr>
            <a:spLocks noGrp="1"/>
          </p:cNvSpPr>
          <p:nvPr>
            <p:ph type="dt" sz="half" idx="10"/>
          </p:nvPr>
        </p:nvSpPr>
        <p:spPr/>
        <p:txBody>
          <a:bodyPr/>
          <a:lstStyle/>
          <a:p>
            <a:fld id="{F75BD8ED-7142-1E42-B3EC-0EAF05734523}"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3447386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5BD8ED-7142-1E42-B3EC-0EAF05734523}"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207538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24248" y="535517"/>
            <a:ext cx="3351848"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8706" y="535517"/>
            <a:ext cx="9861233"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5BD8ED-7142-1E42-B3EC-0EAF05734523}"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48AFA0-7E80-F042-986E-D2607146666C}" type="slidenum">
              <a:rPr lang="en-US" smtClean="0"/>
              <a:t>‹#›</a:t>
            </a:fld>
            <a:endParaRPr lang="en-US"/>
          </a:p>
        </p:txBody>
      </p:sp>
    </p:spTree>
    <p:extLst>
      <p:ext uri="{BB962C8B-B14F-4D97-AF65-F5344CB8AC3E}">
        <p14:creationId xmlns:p14="http://schemas.microsoft.com/office/powerpoint/2010/main" val="1670855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823068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8705" y="535519"/>
            <a:ext cx="13407390"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8705" y="2677584"/>
            <a:ext cx="13407390"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8705" y="9322649"/>
            <a:ext cx="3497580" cy="535517"/>
          </a:xfrm>
          <a:prstGeom prst="rect">
            <a:avLst/>
          </a:prstGeom>
        </p:spPr>
        <p:txBody>
          <a:bodyPr vert="horz" lIns="91440" tIns="45720" rIns="91440" bIns="45720" rtlCol="0" anchor="ctr"/>
          <a:lstStyle>
            <a:lvl1pPr algn="l">
              <a:defRPr sz="1760">
                <a:solidFill>
                  <a:schemeClr val="tx1">
                    <a:tint val="75000"/>
                  </a:schemeClr>
                </a:solidFill>
              </a:defRPr>
            </a:lvl1pPr>
          </a:lstStyle>
          <a:p>
            <a:fld id="{F75BD8ED-7142-1E42-B3EC-0EAF05734523}" type="datetimeFigureOut">
              <a:rPr lang="en-US" smtClean="0"/>
              <a:t>12/1/25</a:t>
            </a:fld>
            <a:endParaRPr lang="en-US"/>
          </a:p>
        </p:txBody>
      </p:sp>
      <p:sp>
        <p:nvSpPr>
          <p:cNvPr id="5" name="Footer Placeholder 4"/>
          <p:cNvSpPr>
            <a:spLocks noGrp="1"/>
          </p:cNvSpPr>
          <p:nvPr>
            <p:ph type="ftr" sz="quarter" idx="3"/>
          </p:nvPr>
        </p:nvSpPr>
        <p:spPr>
          <a:xfrm>
            <a:off x="5149215" y="9322649"/>
            <a:ext cx="5246370" cy="535517"/>
          </a:xfrm>
          <a:prstGeom prst="rect">
            <a:avLst/>
          </a:prstGeom>
        </p:spPr>
        <p:txBody>
          <a:bodyPr vert="horz" lIns="91440" tIns="45720" rIns="91440" bIns="45720" rtlCol="0" anchor="ctr"/>
          <a:lstStyle>
            <a:lvl1pPr algn="ctr">
              <a:defRPr sz="1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978515" y="9322649"/>
            <a:ext cx="3497580" cy="535517"/>
          </a:xfrm>
          <a:prstGeom prst="rect">
            <a:avLst/>
          </a:prstGeom>
        </p:spPr>
        <p:txBody>
          <a:bodyPr vert="horz" lIns="91440" tIns="45720" rIns="91440" bIns="45720" rtlCol="0" anchor="ctr"/>
          <a:lstStyle>
            <a:lvl1pPr algn="r">
              <a:defRPr sz="1760">
                <a:solidFill>
                  <a:schemeClr val="tx1">
                    <a:tint val="75000"/>
                  </a:schemeClr>
                </a:solidFill>
              </a:defRPr>
            </a:lvl1pPr>
          </a:lstStyle>
          <a:p>
            <a:fld id="{7F48AFA0-7E80-F042-986E-D2607146666C}" type="slidenum">
              <a:rPr lang="en-US" smtClean="0"/>
              <a:t>‹#›</a:t>
            </a:fld>
            <a:endParaRPr lang="en-US"/>
          </a:p>
        </p:txBody>
      </p:sp>
    </p:spTree>
    <p:extLst>
      <p:ext uri="{BB962C8B-B14F-4D97-AF65-F5344CB8AC3E}">
        <p14:creationId xmlns:p14="http://schemas.microsoft.com/office/powerpoint/2010/main" val="27470088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1341150" rtl="0" eaLnBrk="1" latinLnBrk="0" hangingPunct="1">
        <a:lnSpc>
          <a:spcPct val="90000"/>
        </a:lnSpc>
        <a:spcBef>
          <a:spcPct val="0"/>
        </a:spcBef>
        <a:buNone/>
        <a:defRPr sz="6453" kern="1200">
          <a:solidFill>
            <a:schemeClr val="tx1"/>
          </a:solidFill>
          <a:latin typeface="+mj-lt"/>
          <a:ea typeface="+mj-ea"/>
          <a:cs typeface="+mj-cs"/>
        </a:defRPr>
      </a:lvl1pPr>
    </p:titleStyle>
    <p:bodyStyle>
      <a:lvl1pPr marL="335288" indent="-335288" algn="l" defTabSz="1341150" rtl="0" eaLnBrk="1" latinLnBrk="0" hangingPunct="1">
        <a:lnSpc>
          <a:spcPct val="90000"/>
        </a:lnSpc>
        <a:spcBef>
          <a:spcPts val="1467"/>
        </a:spcBef>
        <a:buFont typeface="Arial" panose="020B0604020202020204" pitchFamily="34" charset="0"/>
        <a:buChar char="•"/>
        <a:defRPr sz="4107" kern="1200">
          <a:solidFill>
            <a:schemeClr val="tx1"/>
          </a:solidFill>
          <a:latin typeface="+mn-lt"/>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kern="1200">
          <a:solidFill>
            <a:schemeClr val="tx1"/>
          </a:solidFill>
          <a:latin typeface="+mn-lt"/>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kern="1200">
          <a:solidFill>
            <a:schemeClr val="tx1"/>
          </a:solidFill>
          <a:latin typeface="+mn-lt"/>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p:bodyStyle>
    <p:otherStyle>
      <a:defPPr>
        <a:defRPr lang="en-US"/>
      </a:defPPr>
      <a:lvl1pPr marL="0" algn="l" defTabSz="1341150" rtl="0" eaLnBrk="1" latinLnBrk="0" hangingPunct="1">
        <a:defRPr sz="2640" kern="1200">
          <a:solidFill>
            <a:schemeClr val="tx1"/>
          </a:solidFill>
          <a:latin typeface="+mn-lt"/>
          <a:ea typeface="+mn-ea"/>
          <a:cs typeface="+mn-cs"/>
        </a:defRPr>
      </a:lvl1pPr>
      <a:lvl2pPr marL="670575" algn="l" defTabSz="1341150" rtl="0" eaLnBrk="1" latinLnBrk="0" hangingPunct="1">
        <a:defRPr sz="2640" kern="1200">
          <a:solidFill>
            <a:schemeClr val="tx1"/>
          </a:solidFill>
          <a:latin typeface="+mn-lt"/>
          <a:ea typeface="+mn-ea"/>
          <a:cs typeface="+mn-cs"/>
        </a:defRPr>
      </a:lvl2pPr>
      <a:lvl3pPr marL="1341150" algn="l" defTabSz="1341150" rtl="0" eaLnBrk="1" latinLnBrk="0" hangingPunct="1">
        <a:defRPr sz="2640" kern="1200">
          <a:solidFill>
            <a:schemeClr val="tx1"/>
          </a:solidFill>
          <a:latin typeface="+mn-lt"/>
          <a:ea typeface="+mn-ea"/>
          <a:cs typeface="+mn-cs"/>
        </a:defRPr>
      </a:lvl3pPr>
      <a:lvl4pPr marL="2011726" algn="l" defTabSz="1341150" rtl="0" eaLnBrk="1" latinLnBrk="0" hangingPunct="1">
        <a:defRPr sz="2640" kern="1200">
          <a:solidFill>
            <a:schemeClr val="tx1"/>
          </a:solidFill>
          <a:latin typeface="+mn-lt"/>
          <a:ea typeface="+mn-ea"/>
          <a:cs typeface="+mn-cs"/>
        </a:defRPr>
      </a:lvl4pPr>
      <a:lvl5pPr marL="2682301" algn="l" defTabSz="1341150" rtl="0" eaLnBrk="1" latinLnBrk="0" hangingPunct="1">
        <a:defRPr sz="2640" kern="1200">
          <a:solidFill>
            <a:schemeClr val="tx1"/>
          </a:solidFill>
          <a:latin typeface="+mn-lt"/>
          <a:ea typeface="+mn-ea"/>
          <a:cs typeface="+mn-cs"/>
        </a:defRPr>
      </a:lvl5pPr>
      <a:lvl6pPr marL="3352876" algn="l" defTabSz="1341150" rtl="0" eaLnBrk="1" latinLnBrk="0" hangingPunct="1">
        <a:defRPr sz="2640" kern="1200">
          <a:solidFill>
            <a:schemeClr val="tx1"/>
          </a:solidFill>
          <a:latin typeface="+mn-lt"/>
          <a:ea typeface="+mn-ea"/>
          <a:cs typeface="+mn-cs"/>
        </a:defRPr>
      </a:lvl6pPr>
      <a:lvl7pPr marL="4023451" algn="l" defTabSz="1341150" rtl="0" eaLnBrk="1" latinLnBrk="0" hangingPunct="1">
        <a:defRPr sz="2640" kern="1200">
          <a:solidFill>
            <a:schemeClr val="tx1"/>
          </a:solidFill>
          <a:latin typeface="+mn-lt"/>
          <a:ea typeface="+mn-ea"/>
          <a:cs typeface="+mn-cs"/>
        </a:defRPr>
      </a:lvl7pPr>
      <a:lvl8pPr marL="4694027" algn="l" defTabSz="1341150" rtl="0" eaLnBrk="1" latinLnBrk="0" hangingPunct="1">
        <a:defRPr sz="2640" kern="1200">
          <a:solidFill>
            <a:schemeClr val="tx1"/>
          </a:solidFill>
          <a:latin typeface="+mn-lt"/>
          <a:ea typeface="+mn-ea"/>
          <a:cs typeface="+mn-cs"/>
        </a:defRPr>
      </a:lvl8pPr>
      <a:lvl9pPr marL="5364602" algn="l" defTabSz="1341150" rtl="0" eaLnBrk="1" latinLnBrk="0" hangingPunct="1">
        <a:defRPr sz="2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65E"/>
        </a:solidFill>
        <a:effectLst/>
      </p:bgPr>
    </p:bg>
    <p:spTree>
      <p:nvGrpSpPr>
        <p:cNvPr id="1" name=""/>
        <p:cNvGrpSpPr/>
        <p:nvPr/>
      </p:nvGrpSpPr>
      <p:grpSpPr>
        <a:xfrm>
          <a:off x="0" y="0"/>
          <a:ext cx="0" cy="0"/>
          <a:chOff x="0" y="0"/>
          <a:chExt cx="0" cy="0"/>
        </a:xfrm>
      </p:grpSpPr>
      <p:sp>
        <p:nvSpPr>
          <p:cNvPr id="72" name="Rectangle 71"/>
          <p:cNvSpPr/>
          <p:nvPr/>
        </p:nvSpPr>
        <p:spPr>
          <a:xfrm>
            <a:off x="1586" y="0"/>
            <a:ext cx="15543214" cy="19680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9116" tIns="19558" rIns="39116" bIns="19558" rtlCol="0" anchor="ctr"/>
          <a:lstStyle>
            <a:defPPr>
              <a:defRPr kern="1200"/>
            </a:defPPr>
          </a:lstStyle>
          <a:p>
            <a:pPr algn="ctr"/>
            <a:endParaRPr lang="en-US" sz="1897" dirty="0"/>
          </a:p>
        </p:txBody>
      </p:sp>
      <p:sp>
        <p:nvSpPr>
          <p:cNvPr id="51" name="Title 11"/>
          <p:cNvSpPr txBox="1"/>
          <p:nvPr/>
        </p:nvSpPr>
        <p:spPr>
          <a:xfrm>
            <a:off x="1485900" y="382796"/>
            <a:ext cx="12573000" cy="839341"/>
          </a:xfrm>
          <a:prstGeom prst="rect">
            <a:avLst/>
          </a:prstGeom>
        </p:spPr>
        <p:txBody>
          <a:bodyPr lIns="39116" tIns="19558" rIns="39116" bIns="19558"/>
          <a:lstStyle>
            <a:defPPr>
              <a:defRPr kern="1200"/>
            </a:defPPr>
            <a:lvl1pPr algn="ctr" defTabSz="4389120" rtl="0" eaLnBrk="1" latinLnBrk="0" hangingPunct="1">
              <a:spcBef>
                <a:spcPct val="0"/>
              </a:spcBef>
              <a:buNone/>
              <a:defRPr sz="13400" kern="1200">
                <a:solidFill>
                  <a:schemeClr val="tx1"/>
                </a:solidFill>
                <a:latin typeface="+mj-lt"/>
                <a:ea typeface="+mj-ea"/>
                <a:cs typeface="+mj-cs"/>
              </a:defRPr>
            </a:lvl1pPr>
          </a:lstStyle>
          <a:p>
            <a:r>
              <a:rPr lang="en-US" sz="2612" b="1" dirty="0">
                <a:solidFill>
                  <a:schemeClr val="tx2">
                    <a:lumMod val="75000"/>
                  </a:schemeClr>
                </a:solidFill>
                <a:latin typeface="Montserrat Extra Bold" panose="00000900000000000000" pitchFamily="50" charset="0"/>
              </a:rPr>
              <a:t>Urban Heat Island Detection from Satellite Imagery using Convolutional Neural Networks </a:t>
            </a:r>
          </a:p>
        </p:txBody>
      </p:sp>
      <p:sp>
        <p:nvSpPr>
          <p:cNvPr id="58" name="Text Placeholder 16"/>
          <p:cNvSpPr txBox="1"/>
          <p:nvPr/>
        </p:nvSpPr>
        <p:spPr>
          <a:xfrm>
            <a:off x="1485900" y="1004521"/>
            <a:ext cx="12573000" cy="926792"/>
          </a:xfrm>
          <a:prstGeom prst="rect">
            <a:avLst/>
          </a:prstGeom>
        </p:spPr>
        <p:txBody>
          <a:bodyPr lIns="39116" tIns="19558" rIns="39116" bIns="19558">
            <a:spAutoFit/>
          </a:bodyPr>
          <a:lstStyle>
            <a:defPPr>
              <a:defRPr kern="1200"/>
            </a:defPPr>
            <a:lvl1pPr marL="0" indent="0" algn="l" defTabSz="4389120" rtl="0" eaLnBrk="1" latinLnBrk="0" hangingPunct="1">
              <a:spcBef>
                <a:spcPct val="20000"/>
              </a:spcBef>
              <a:buFont typeface="Arial" panose="020B0604020202020204" pitchFamily="34" charset="0"/>
              <a:buNone/>
              <a:defRPr sz="13400" kern="1200" baseline="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4pPr>
            <a:lvl5pPr marL="9875520"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5pPr>
            <a:lvl6pPr marL="12070080"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6pPr>
            <a:lvl7pPr marL="14264640"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20204" pitchFamily="34" charset="0"/>
              <a:buChar char="•"/>
              <a:defRPr sz="9700" kern="1200">
                <a:solidFill>
                  <a:schemeClr val="tx1"/>
                </a:solidFill>
                <a:latin typeface="+mn-lt"/>
                <a:ea typeface="+mn-ea"/>
                <a:cs typeface="+mn-cs"/>
              </a:defRPr>
            </a:lvl9pPr>
          </a:lstStyle>
          <a:p>
            <a:pPr algn="ctr"/>
            <a:r>
              <a:rPr lang="en-US" altLang="zh-CN" sz="1696" dirty="0">
                <a:solidFill>
                  <a:schemeClr val="tx2">
                    <a:lumMod val="75000"/>
                  </a:schemeClr>
                </a:solidFill>
                <a:latin typeface="Domine" panose="02040503040403060204" pitchFamily="18" charset="0"/>
              </a:rPr>
              <a:t>Yuang</a:t>
            </a:r>
            <a:r>
              <a:rPr lang="zh-CN" altLang="en-US" sz="1696" dirty="0">
                <a:solidFill>
                  <a:schemeClr val="tx2">
                    <a:lumMod val="75000"/>
                  </a:schemeClr>
                </a:solidFill>
                <a:latin typeface="Domine" panose="02040503040403060204" pitchFamily="18" charset="0"/>
              </a:rPr>
              <a:t> </a:t>
            </a:r>
            <a:r>
              <a:rPr lang="en-US" altLang="zh-CN" sz="1696" dirty="0">
                <a:solidFill>
                  <a:schemeClr val="tx2">
                    <a:lumMod val="75000"/>
                  </a:schemeClr>
                </a:solidFill>
                <a:latin typeface="Domine" panose="02040503040403060204" pitchFamily="18" charset="0"/>
              </a:rPr>
              <a:t>Li</a:t>
            </a:r>
          </a:p>
          <a:p>
            <a:pPr algn="ctr"/>
            <a:r>
              <a:rPr lang="en-US" altLang="zh-CN" sz="1696" dirty="0">
                <a:solidFill>
                  <a:schemeClr val="tx2">
                    <a:lumMod val="75000"/>
                  </a:schemeClr>
                </a:solidFill>
                <a:latin typeface="Domine" panose="02040503040403060204" pitchFamily="18" charset="0"/>
              </a:rPr>
              <a:t>Instructor: Dr.</a:t>
            </a:r>
            <a:r>
              <a:rPr lang="zh-CN" altLang="en-US" sz="1696" dirty="0">
                <a:solidFill>
                  <a:schemeClr val="tx2">
                    <a:lumMod val="75000"/>
                  </a:schemeClr>
                </a:solidFill>
                <a:latin typeface="Domine" panose="02040503040403060204" pitchFamily="18" charset="0"/>
              </a:rPr>
              <a:t> </a:t>
            </a:r>
            <a:r>
              <a:rPr lang="en-US" sz="1696" dirty="0">
                <a:solidFill>
                  <a:schemeClr val="tx2">
                    <a:lumMod val="75000"/>
                  </a:schemeClr>
                </a:solidFill>
                <a:latin typeface="Domine" panose="02040503040403060204" pitchFamily="18" charset="0"/>
              </a:rPr>
              <a:t>Daniel Loehr</a:t>
            </a:r>
            <a:endParaRPr lang="en-US" altLang="zh-CN" sz="1696" dirty="0">
              <a:solidFill>
                <a:schemeClr val="tx2">
                  <a:lumMod val="75000"/>
                </a:schemeClr>
              </a:solidFill>
              <a:latin typeface="Domine" panose="02040503040403060204" pitchFamily="18" charset="0"/>
            </a:endParaRPr>
          </a:p>
          <a:p>
            <a:pPr algn="ctr"/>
            <a:r>
              <a:rPr lang="en-US" altLang="zh-CN" sz="1696" dirty="0">
                <a:solidFill>
                  <a:schemeClr val="tx2">
                    <a:lumMod val="75000"/>
                  </a:schemeClr>
                </a:solidFill>
                <a:latin typeface="Domine" panose="02040503040403060204" pitchFamily="18" charset="0"/>
              </a:rPr>
              <a:t>DSAN</a:t>
            </a:r>
            <a:r>
              <a:rPr lang="zh-CN" altLang="en-US" sz="1696" dirty="0">
                <a:solidFill>
                  <a:schemeClr val="tx2">
                    <a:lumMod val="75000"/>
                  </a:schemeClr>
                </a:solidFill>
                <a:latin typeface="Domine" panose="02040503040403060204" pitchFamily="18" charset="0"/>
              </a:rPr>
              <a:t> </a:t>
            </a:r>
            <a:r>
              <a:rPr lang="en-US" altLang="zh-CN" sz="1696">
                <a:solidFill>
                  <a:schemeClr val="tx2">
                    <a:lumMod val="75000"/>
                  </a:schemeClr>
                </a:solidFill>
                <a:latin typeface="Domine" panose="02040503040403060204" pitchFamily="18" charset="0"/>
              </a:rPr>
              <a:t>5550-Data </a:t>
            </a:r>
            <a:r>
              <a:rPr lang="en-US" altLang="zh-CN" sz="1696" dirty="0">
                <a:solidFill>
                  <a:schemeClr val="tx2">
                    <a:lumMod val="75000"/>
                  </a:schemeClr>
                </a:solidFill>
                <a:latin typeface="Domine" panose="02040503040403060204" pitchFamily="18" charset="0"/>
              </a:rPr>
              <a:t>Science &amp; Climate Change</a:t>
            </a:r>
            <a:endParaRPr lang="en-US" sz="1696" dirty="0">
              <a:solidFill>
                <a:schemeClr val="tx2">
                  <a:lumMod val="75000"/>
                </a:schemeClr>
              </a:solidFill>
              <a:latin typeface="Domine" panose="02040503040403060204" pitchFamily="18" charset="0"/>
            </a:endParaRPr>
          </a:p>
        </p:txBody>
      </p:sp>
      <p:sp>
        <p:nvSpPr>
          <p:cNvPr id="39" name="Rectangle: Rounded Corners 38"/>
          <p:cNvSpPr/>
          <p:nvPr/>
        </p:nvSpPr>
        <p:spPr>
          <a:xfrm>
            <a:off x="152400" y="2052596"/>
            <a:ext cx="4914900" cy="3029446"/>
          </a:xfrm>
          <a:prstGeom prst="roundRect">
            <a:avLst>
              <a:gd name="adj" fmla="val 171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47" name="TextBox 46"/>
          <p:cNvSpPr txBox="1"/>
          <p:nvPr/>
        </p:nvSpPr>
        <p:spPr>
          <a:xfrm>
            <a:off x="279255" y="2141147"/>
            <a:ext cx="3150906" cy="261610"/>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Introduction</a:t>
            </a:r>
          </a:p>
        </p:txBody>
      </p:sp>
      <p:sp>
        <p:nvSpPr>
          <p:cNvPr id="44" name="Rectangle: Rounded Corners 43"/>
          <p:cNvSpPr/>
          <p:nvPr/>
        </p:nvSpPr>
        <p:spPr>
          <a:xfrm>
            <a:off x="5314950" y="3856096"/>
            <a:ext cx="4914900" cy="2267791"/>
          </a:xfrm>
          <a:prstGeom prst="roundRect">
            <a:avLst>
              <a:gd name="adj" fmla="val 27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pic>
        <p:nvPicPr>
          <p:cNvPr id="6" name="图片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5613" y="848078"/>
            <a:ext cx="2798191" cy="958592"/>
          </a:xfrm>
          <a:prstGeom prst="rect">
            <a:avLst/>
          </a:prstGeom>
        </p:spPr>
      </p:pic>
      <p:pic>
        <p:nvPicPr>
          <p:cNvPr id="10" name="Picture 2"/>
          <p:cNvPicPr>
            <a:picLocks noChangeAspect="1" noChangeArrowheads="1"/>
          </p:cNvPicPr>
          <p:nvPr/>
        </p:nvPicPr>
        <p:blipFill>
          <a:blip r:embed="rId4">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13752160" y="868983"/>
            <a:ext cx="1309688" cy="916781"/>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Rounded Corners 42"/>
          <p:cNvSpPr/>
          <p:nvPr/>
        </p:nvSpPr>
        <p:spPr>
          <a:xfrm>
            <a:off x="152400" y="5240913"/>
            <a:ext cx="4914900" cy="4738829"/>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87" name="TextBox 86"/>
          <p:cNvSpPr txBox="1"/>
          <p:nvPr/>
        </p:nvSpPr>
        <p:spPr>
          <a:xfrm>
            <a:off x="264423" y="5240913"/>
            <a:ext cx="3180570" cy="261610"/>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Data</a:t>
            </a:r>
            <a:r>
              <a:rPr lang="en-US" altLang="zh-CN" sz="1100" b="1" dirty="0">
                <a:solidFill>
                  <a:schemeClr val="tx1">
                    <a:lumMod val="75000"/>
                    <a:lumOff val="25000"/>
                  </a:schemeClr>
                </a:solidFill>
                <a:latin typeface="Montserrat Extra Bold" panose="00000900000000000000" pitchFamily="50" charset="0"/>
              </a:rPr>
              <a:t>set</a:t>
            </a:r>
            <a:r>
              <a:rPr lang="en-US" sz="1100" b="1" dirty="0">
                <a:solidFill>
                  <a:schemeClr val="tx1">
                    <a:lumMod val="75000"/>
                    <a:lumOff val="25000"/>
                  </a:schemeClr>
                </a:solidFill>
                <a:latin typeface="Montserrat Extra Bold" panose="00000900000000000000" pitchFamily="50" charset="0"/>
              </a:rPr>
              <a:t> &amp; Preprocessing</a:t>
            </a:r>
          </a:p>
        </p:txBody>
      </p:sp>
      <p:sp>
        <p:nvSpPr>
          <p:cNvPr id="36" name="TextBox 35">
            <a:extLst>
              <a:ext uri="{FF2B5EF4-FFF2-40B4-BE49-F238E27FC236}">
                <a16:creationId xmlns:a16="http://schemas.microsoft.com/office/drawing/2014/main" id="{2BC98F7E-F519-7775-A790-BE9696B0C0C3}"/>
              </a:ext>
            </a:extLst>
          </p:cNvPr>
          <p:cNvSpPr txBox="1"/>
          <p:nvPr/>
        </p:nvSpPr>
        <p:spPr>
          <a:xfrm>
            <a:off x="279255" y="2395403"/>
            <a:ext cx="4580997" cy="2915285"/>
          </a:xfrm>
          <a:prstGeom prst="rect">
            <a:avLst/>
          </a:prstGeom>
          <a:noFill/>
        </p:spPr>
        <p:txBody>
          <a:bodyPr wrap="square" rtlCol="0">
            <a:spAutoFit/>
          </a:bodyPr>
          <a:lstStyle>
            <a:defPPr>
              <a:defRPr kern="1200"/>
            </a:defPPr>
          </a:lstStyle>
          <a:p>
            <a:pPr marR="0" algn="just">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Urban Heat Islands (UHIs) are localized hotspots in urban environments where land surface temperatures are significantly higher than those of surrounding rural areas. These temperature differences arise from reduced vegetation, dense impervious surfaces, and human activity. As climate change becomes even worse, UHIs exacerbate heat-related health risks, increase energy consumption, and affect long-term urban sustainability. </a:t>
            </a:r>
          </a:p>
          <a:p>
            <a:pPr marR="0" algn="just">
              <a:lnSpc>
                <a:spcPct val="150000"/>
              </a:lnSpc>
              <a:spcBef>
                <a:spcPts val="0"/>
              </a:spcBef>
              <a:spcAft>
                <a:spcPts val="0"/>
              </a:spcAft>
            </a:pPr>
            <a:endParaRPr lang="en-US" sz="917" dirty="0">
              <a:latin typeface="Domine" panose="02040503040403060204" pitchFamily="18" charset="0"/>
              <a:ea typeface="Open Sans" panose="020B0606030504020204" pitchFamily="34" charset="0"/>
              <a:cs typeface="Open Sans" panose="020B0606030504020204" pitchFamily="34" charset="0"/>
            </a:endParaRPr>
          </a:p>
          <a:p>
            <a:pPr marR="0" algn="just">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Therefore, detecting and analyzing UHIs is important for urban climate adaptation and planning. Satellite-derived Land Surface Temperature (LST) data provides a consistent and global method for detecting high-temperature regions. In this project, we apply Convolutional Neural Networks (CNNs) to automatically classify heat-prone regions from LST imagery, enabling data-driven decision-making for mitigation strategies such as green-space expansion, cool-roof initiatives, and heat-resilient infrastructure planning.</a:t>
            </a:r>
          </a:p>
          <a:p>
            <a:endParaRPr lang="en-US" sz="917" dirty="0">
              <a:latin typeface="Domine" panose="02040503040403060204" pitchFamily="18" charset="0"/>
              <a:ea typeface="Open Sans" panose="020B0606030504020204" pitchFamily="34" charset="0"/>
              <a:cs typeface="Open Sans" panose="020B0606030504020204" pitchFamily="34" charset="0"/>
            </a:endParaRPr>
          </a:p>
          <a:p>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149A18BF-8502-8E22-2A7A-E7D5C543668C}"/>
              </a:ext>
            </a:extLst>
          </p:cNvPr>
          <p:cNvSpPr txBox="1"/>
          <p:nvPr/>
        </p:nvSpPr>
        <p:spPr>
          <a:xfrm>
            <a:off x="261334" y="5487947"/>
            <a:ext cx="3180570" cy="246221"/>
          </a:xfrm>
          <a:prstGeom prst="rect">
            <a:avLst/>
          </a:prstGeom>
          <a:noFill/>
        </p:spPr>
        <p:txBody>
          <a:bodyPr wrap="square" rtlCol="0">
            <a:spAutoFit/>
          </a:bodyPr>
          <a:lstStyle>
            <a:defPPr>
              <a:defRPr kern="1200"/>
            </a:defPPr>
          </a:lstStyle>
          <a:p>
            <a:r>
              <a:rPr lang="en-US" sz="1000" b="1" dirty="0">
                <a:solidFill>
                  <a:schemeClr val="tx1">
                    <a:lumMod val="75000"/>
                    <a:lumOff val="25000"/>
                  </a:schemeClr>
                </a:solidFill>
                <a:latin typeface="Montserrat Extra Bold" panose="00000900000000000000" pitchFamily="50" charset="0"/>
              </a:rPr>
              <a:t>Data Source</a:t>
            </a:r>
          </a:p>
        </p:txBody>
      </p:sp>
      <p:sp>
        <p:nvSpPr>
          <p:cNvPr id="38" name="TextBox 37">
            <a:extLst>
              <a:ext uri="{FF2B5EF4-FFF2-40B4-BE49-F238E27FC236}">
                <a16:creationId xmlns:a16="http://schemas.microsoft.com/office/drawing/2014/main" id="{3AC8E589-90E8-AB09-6538-15ED4FAE1379}"/>
              </a:ext>
            </a:extLst>
          </p:cNvPr>
          <p:cNvSpPr txBox="1"/>
          <p:nvPr/>
        </p:nvSpPr>
        <p:spPr>
          <a:xfrm>
            <a:off x="267063" y="5629909"/>
            <a:ext cx="4580997" cy="1676806"/>
          </a:xfrm>
          <a:prstGeom prst="rect">
            <a:avLst/>
          </a:prstGeom>
          <a:noFill/>
        </p:spPr>
        <p:txBody>
          <a:bodyPr wrap="square" rtlCol="0">
            <a:spAutoFit/>
          </a:bodyPr>
          <a:lstStyle>
            <a:defPPr>
              <a:defRPr kern="1200"/>
            </a:defPPr>
          </a:lstStyle>
          <a:p>
            <a:pPr>
              <a:lnSpc>
                <a:spcPct val="150000"/>
              </a:lnSpc>
            </a:pPr>
            <a:r>
              <a:rPr lang="en-US" sz="917" dirty="0">
                <a:latin typeface="Domine" panose="02040503040403060204" pitchFamily="18" charset="0"/>
                <a:ea typeface="Open Sans" panose="020B0606030504020204" pitchFamily="34" charset="0"/>
                <a:cs typeface="Open Sans" panose="020B0606030504020204" pitchFamily="34" charset="0"/>
              </a:rPr>
              <a:t>We use the 1 km Global Land Surface Temperature (LST) Dataset (2020), published by Iowa State University on </a:t>
            </a:r>
            <a:r>
              <a:rPr lang="en-US" sz="917" dirty="0" err="1">
                <a:latin typeface="Domine" panose="02040503040403060204" pitchFamily="18" charset="0"/>
                <a:ea typeface="Open Sans" panose="020B0606030504020204" pitchFamily="34" charset="0"/>
                <a:cs typeface="Open Sans" panose="020B0606030504020204" pitchFamily="34" charset="0"/>
              </a:rPr>
              <a:t>Figshare</a:t>
            </a:r>
            <a:r>
              <a:rPr lang="en-US" sz="917" dirty="0">
                <a:latin typeface="Domine" panose="02040503040403060204" pitchFamily="18" charset="0"/>
                <a:ea typeface="Open Sans" panose="020B0606030504020204" pitchFamily="34" charset="0"/>
                <a:cs typeface="Open Sans" panose="020B0606030504020204" pitchFamily="34" charset="0"/>
              </a:rPr>
              <a:t>.</a:t>
            </a:r>
            <a:r>
              <a:rPr lang="zh-CN" altLang="en-US" sz="917" dirty="0">
                <a:latin typeface="Domine" panose="02040503040403060204" pitchFamily="18"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Each </a:t>
            </a:r>
            <a:r>
              <a:rPr lang="en-US" sz="917" dirty="0" err="1">
                <a:latin typeface="Domine" panose="02040503040403060204" pitchFamily="18" charset="0"/>
                <a:ea typeface="Open Sans" panose="020B0606030504020204" pitchFamily="34" charset="0"/>
                <a:cs typeface="Open Sans" panose="020B0606030504020204" pitchFamily="34" charset="0"/>
              </a:rPr>
              <a:t>GeoTIFF</a:t>
            </a:r>
            <a:r>
              <a:rPr lang="en-US" sz="917" dirty="0">
                <a:latin typeface="Domine" panose="02040503040403060204" pitchFamily="18" charset="0"/>
                <a:ea typeface="Open Sans" panose="020B0606030504020204" pitchFamily="34" charset="0"/>
                <a:cs typeface="Open Sans" panose="020B0606030504020204" pitchFamily="34" charset="0"/>
              </a:rPr>
              <a:t> file provides daytime land surface temperature in Kelvin at a 1 km² spatial resolution, enabling large-scale and consistent thermal analysis across urban regions.</a:t>
            </a:r>
          </a:p>
          <a:p>
            <a:pPr>
              <a:lnSpc>
                <a:spcPct val="150000"/>
              </a:lnSpc>
            </a:pPr>
            <a:endParaRPr lang="en-US" sz="917" dirty="0">
              <a:latin typeface="Domine" panose="02040503040403060204" pitchFamily="18" charset="0"/>
              <a:ea typeface="Open Sans" panose="020B0606030504020204" pitchFamily="34" charset="0"/>
              <a:cs typeface="Open Sans" panose="020B0606030504020204" pitchFamily="34" charset="0"/>
            </a:endParaRPr>
          </a:p>
          <a:p>
            <a:pPr marR="0">
              <a:lnSpc>
                <a:spcPct val="150000"/>
              </a:lnSpc>
              <a:spcBef>
                <a:spcPts val="0"/>
              </a:spcBef>
              <a:spcAft>
                <a:spcPts val="0"/>
              </a:spcAft>
            </a:pPr>
            <a:endParaRPr lang="en-US" sz="1000" dirty="0"/>
          </a:p>
          <a:p>
            <a:endParaRPr lang="en-US" sz="1000" dirty="0"/>
          </a:p>
          <a:p>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sp>
        <p:nvSpPr>
          <p:cNvPr id="40" name="TextBox 39">
            <a:extLst>
              <a:ext uri="{FF2B5EF4-FFF2-40B4-BE49-F238E27FC236}">
                <a16:creationId xmlns:a16="http://schemas.microsoft.com/office/drawing/2014/main" id="{445F645F-C816-9AC1-0F36-4C034E1F27D8}"/>
              </a:ext>
            </a:extLst>
          </p:cNvPr>
          <p:cNvSpPr txBox="1"/>
          <p:nvPr/>
        </p:nvSpPr>
        <p:spPr>
          <a:xfrm>
            <a:off x="264951" y="6545254"/>
            <a:ext cx="3180570" cy="246221"/>
          </a:xfrm>
          <a:prstGeom prst="rect">
            <a:avLst/>
          </a:prstGeom>
          <a:noFill/>
        </p:spPr>
        <p:txBody>
          <a:bodyPr wrap="square" rtlCol="0">
            <a:spAutoFit/>
          </a:bodyPr>
          <a:lstStyle>
            <a:defPPr>
              <a:defRPr kern="1200"/>
            </a:defPPr>
          </a:lstStyle>
          <a:p>
            <a:r>
              <a:rPr lang="en-US" sz="1000" b="1" dirty="0">
                <a:solidFill>
                  <a:schemeClr val="tx1">
                    <a:lumMod val="75000"/>
                    <a:lumOff val="25000"/>
                  </a:schemeClr>
                </a:solidFill>
                <a:latin typeface="Montserrat Extra Bold" panose="00000900000000000000" pitchFamily="50" charset="0"/>
              </a:rPr>
              <a:t>Region of Interest (ROI)</a:t>
            </a:r>
          </a:p>
        </p:txBody>
      </p:sp>
      <p:sp>
        <p:nvSpPr>
          <p:cNvPr id="45" name="TextBox 44">
            <a:extLst>
              <a:ext uri="{FF2B5EF4-FFF2-40B4-BE49-F238E27FC236}">
                <a16:creationId xmlns:a16="http://schemas.microsoft.com/office/drawing/2014/main" id="{21F581A3-6644-7B9C-BA30-0456A08EB449}"/>
              </a:ext>
            </a:extLst>
          </p:cNvPr>
          <p:cNvSpPr txBox="1"/>
          <p:nvPr/>
        </p:nvSpPr>
        <p:spPr>
          <a:xfrm>
            <a:off x="279255" y="6696307"/>
            <a:ext cx="4580997" cy="798039"/>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A subset covering the DMV area is extracted for this project.</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The raw LST image is clipped to the desired geographic boundary before model training.</a:t>
            </a:r>
          </a:p>
          <a:p>
            <a:pPr algn="just"/>
            <a:endParaRPr lang="en-US" sz="917" dirty="0">
              <a:latin typeface="Domine" panose="02040503040403060204" pitchFamily="18" charset="0"/>
              <a:ea typeface="Open Sans" panose="020B0606030504020204" pitchFamily="34" charset="0"/>
              <a:cs typeface="Open Sans" panose="020B0606030504020204" pitchFamily="34" charset="0"/>
            </a:endParaRPr>
          </a:p>
          <a:p>
            <a:pPr algn="just"/>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pic>
        <p:nvPicPr>
          <p:cNvPr id="50" name="Picture 49">
            <a:extLst>
              <a:ext uri="{FF2B5EF4-FFF2-40B4-BE49-F238E27FC236}">
                <a16:creationId xmlns:a16="http://schemas.microsoft.com/office/drawing/2014/main" id="{0F44E420-AD98-3AD3-3CCF-87393BEB4152}"/>
              </a:ext>
            </a:extLst>
          </p:cNvPr>
          <p:cNvPicPr>
            <a:picLocks noChangeAspect="1"/>
          </p:cNvPicPr>
          <p:nvPr/>
        </p:nvPicPr>
        <p:blipFill>
          <a:blip r:embed="rId5"/>
          <a:stretch>
            <a:fillRect/>
          </a:stretch>
        </p:blipFill>
        <p:spPr>
          <a:xfrm>
            <a:off x="2513744" y="7168433"/>
            <a:ext cx="2038262" cy="1309510"/>
          </a:xfrm>
          <a:prstGeom prst="rect">
            <a:avLst/>
          </a:prstGeom>
        </p:spPr>
      </p:pic>
      <p:sp>
        <p:nvSpPr>
          <p:cNvPr id="63" name="Rectangle: Rounded Corners 42">
            <a:extLst>
              <a:ext uri="{FF2B5EF4-FFF2-40B4-BE49-F238E27FC236}">
                <a16:creationId xmlns:a16="http://schemas.microsoft.com/office/drawing/2014/main" id="{CF541F88-2DC7-5C61-91CB-4D3F6EF5F4A9}"/>
              </a:ext>
            </a:extLst>
          </p:cNvPr>
          <p:cNvSpPr/>
          <p:nvPr/>
        </p:nvSpPr>
        <p:spPr>
          <a:xfrm>
            <a:off x="5314950" y="2052598"/>
            <a:ext cx="4914900" cy="1712461"/>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68" name="TextBox 67">
            <a:extLst>
              <a:ext uri="{FF2B5EF4-FFF2-40B4-BE49-F238E27FC236}">
                <a16:creationId xmlns:a16="http://schemas.microsoft.com/office/drawing/2014/main" id="{1E170D59-61DD-2C60-94AB-6B6F1C5FA8C9}"/>
              </a:ext>
            </a:extLst>
          </p:cNvPr>
          <p:cNvSpPr txBox="1"/>
          <p:nvPr/>
        </p:nvSpPr>
        <p:spPr>
          <a:xfrm>
            <a:off x="202734" y="8490116"/>
            <a:ext cx="4580997" cy="1670265"/>
          </a:xfrm>
          <a:prstGeom prst="rect">
            <a:avLst/>
          </a:prstGeom>
          <a:noFill/>
        </p:spPr>
        <p:txBody>
          <a:bodyPr wrap="square" rtlCol="0">
            <a:spAutoFit/>
          </a:bodyPr>
          <a:lstStyle>
            <a:defPPr>
              <a:defRPr kern="1200"/>
            </a:defPPr>
          </a:lstStyle>
          <a:p>
            <a:r>
              <a:rPr lang="en-US" sz="1000" b="1" dirty="0">
                <a:solidFill>
                  <a:schemeClr val="tx1">
                    <a:lumMod val="75000"/>
                    <a:lumOff val="25000"/>
                  </a:schemeClr>
                </a:solidFill>
                <a:latin typeface="Montserrat Extra Bold" panose="00000900000000000000" pitchFamily="50" charset="0"/>
              </a:rPr>
              <a:t>Patch Generation</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Clip each MODIS LST image to the DMV urban region.</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Extract 16 × 16 patches with stride = 8, producing dense localized thermal samples.</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Each patch captures a fine-scale spatial temperature pattern for supervised learning.</a:t>
            </a:r>
          </a:p>
          <a:p>
            <a:pPr>
              <a:buFont typeface="Arial" panose="020B0604020202020204" pitchFamily="34" charset="0"/>
              <a:buChar char="•"/>
            </a:pPr>
            <a:endParaRPr lang="en-US" sz="917" dirty="0">
              <a:latin typeface="Domine" panose="02040503040403060204" pitchFamily="18" charset="0"/>
              <a:ea typeface="Open Sans" panose="020B0606030504020204" pitchFamily="34" charset="0"/>
              <a:cs typeface="Open Sans" panose="020B0606030504020204" pitchFamily="34" charset="0"/>
            </a:endParaRPr>
          </a:p>
          <a:p>
            <a:r>
              <a:rPr lang="en-US" sz="1000" b="1" dirty="0">
                <a:solidFill>
                  <a:schemeClr val="tx1">
                    <a:lumMod val="75000"/>
                    <a:lumOff val="25000"/>
                  </a:schemeClr>
                </a:solidFill>
                <a:latin typeface="Montserrat Extra Bold" panose="00000900000000000000" pitchFamily="50" charset="0"/>
              </a:rPr>
              <a:t>Label Creation</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Apply a 303 K (~30°C) threshold.</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A patch is labeled UHI (1) if &gt;50% of valid pixels exceed 303 K; otherwise non-UHI (0).</a:t>
            </a:r>
          </a:p>
          <a:p>
            <a:pPr marL="171450" indent="-171450">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This converts the task into a binary classification problem reflecting local heat intensity</a:t>
            </a:r>
          </a:p>
          <a:p>
            <a:pPr algn="just"/>
            <a:endParaRPr lang="en-US" sz="917" dirty="0">
              <a:latin typeface="Domine" panose="02040503040403060204" pitchFamily="18" charset="0"/>
              <a:ea typeface="Open Sans" panose="020B0606030504020204" pitchFamily="34" charset="0"/>
              <a:cs typeface="Open Sans" panose="020B0606030504020204" pitchFamily="34" charset="0"/>
            </a:endParaRPr>
          </a:p>
          <a:p>
            <a:pPr algn="just"/>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pic>
        <p:nvPicPr>
          <p:cNvPr id="69" name="Picture 68">
            <a:extLst>
              <a:ext uri="{FF2B5EF4-FFF2-40B4-BE49-F238E27FC236}">
                <a16:creationId xmlns:a16="http://schemas.microsoft.com/office/drawing/2014/main" id="{75894060-93A4-6AE3-7D1F-C21F7CCEB7CD}"/>
              </a:ext>
            </a:extLst>
          </p:cNvPr>
          <p:cNvPicPr>
            <a:picLocks noChangeAspect="1"/>
          </p:cNvPicPr>
          <p:nvPr/>
        </p:nvPicPr>
        <p:blipFill>
          <a:blip r:embed="rId6"/>
          <a:stretch>
            <a:fillRect/>
          </a:stretch>
        </p:blipFill>
        <p:spPr>
          <a:xfrm>
            <a:off x="279255" y="7180606"/>
            <a:ext cx="1938435" cy="1309510"/>
          </a:xfrm>
          <a:prstGeom prst="rect">
            <a:avLst/>
          </a:prstGeom>
        </p:spPr>
      </p:pic>
      <p:sp>
        <p:nvSpPr>
          <p:cNvPr id="70" name="TextBox 69">
            <a:extLst>
              <a:ext uri="{FF2B5EF4-FFF2-40B4-BE49-F238E27FC236}">
                <a16:creationId xmlns:a16="http://schemas.microsoft.com/office/drawing/2014/main" id="{D379B7F9-A294-4618-075A-44ECCAF572EB}"/>
              </a:ext>
            </a:extLst>
          </p:cNvPr>
          <p:cNvSpPr txBox="1"/>
          <p:nvPr/>
        </p:nvSpPr>
        <p:spPr>
          <a:xfrm>
            <a:off x="8112154" y="2082424"/>
            <a:ext cx="2055303" cy="1939762"/>
          </a:xfrm>
          <a:prstGeom prst="rect">
            <a:avLst/>
          </a:prstGeom>
          <a:noFill/>
        </p:spPr>
        <p:txBody>
          <a:bodyPr wrap="square" rtlCol="0">
            <a:spAutoFit/>
          </a:bodyPr>
          <a:lstStyle>
            <a:defPPr>
              <a:defRPr kern="1200"/>
            </a:defPPr>
          </a:lstStyle>
          <a:p>
            <a:r>
              <a:rPr lang="en-US" sz="1000" b="1" dirty="0">
                <a:solidFill>
                  <a:schemeClr val="tx1">
                    <a:lumMod val="75000"/>
                    <a:lumOff val="25000"/>
                  </a:schemeClr>
                </a:solidFill>
                <a:latin typeface="Montserrat Extra Bold" panose="00000900000000000000" pitchFamily="50" charset="0"/>
              </a:rPr>
              <a:t>Preprocessing Pipeline</a:t>
            </a:r>
          </a:p>
          <a:p>
            <a:pPr>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Clip ROI and mask invalid (≤0) temperature readings.</a:t>
            </a:r>
          </a:p>
          <a:p>
            <a:pPr>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Drop patches with &gt;30% </a:t>
            </a:r>
            <a:r>
              <a:rPr lang="en-US" sz="917" dirty="0" err="1">
                <a:latin typeface="Domine" panose="02040503040403060204" pitchFamily="18" charset="0"/>
                <a:ea typeface="Open Sans" panose="020B0606030504020204" pitchFamily="34" charset="0"/>
                <a:cs typeface="Open Sans" panose="020B0606030504020204" pitchFamily="34" charset="0"/>
              </a:rPr>
              <a:t>NaN</a:t>
            </a:r>
            <a:r>
              <a:rPr lang="en-US" sz="917" dirty="0">
                <a:latin typeface="Domine" panose="02040503040403060204" pitchFamily="18" charset="0"/>
                <a:ea typeface="Open Sans" panose="020B0606030504020204" pitchFamily="34" charset="0"/>
                <a:cs typeface="Open Sans" panose="020B0606030504020204" pitchFamily="34" charset="0"/>
              </a:rPr>
              <a:t>, fill remaining </a:t>
            </a:r>
            <a:r>
              <a:rPr lang="en-US" sz="917" dirty="0" err="1">
                <a:latin typeface="Domine" panose="02040503040403060204" pitchFamily="18" charset="0"/>
                <a:ea typeface="Open Sans" panose="020B0606030504020204" pitchFamily="34" charset="0"/>
                <a:cs typeface="Open Sans" panose="020B0606030504020204" pitchFamily="34" charset="0"/>
              </a:rPr>
              <a:t>NaNs</a:t>
            </a:r>
            <a:r>
              <a:rPr lang="en-US" sz="917" dirty="0">
                <a:latin typeface="Domine" panose="02040503040403060204" pitchFamily="18" charset="0"/>
                <a:ea typeface="Open Sans" panose="020B0606030504020204" pitchFamily="34" charset="0"/>
                <a:cs typeface="Open Sans" panose="020B0606030504020204" pitchFamily="34" charset="0"/>
              </a:rPr>
              <a:t> using patch means.</a:t>
            </a:r>
          </a:p>
          <a:p>
            <a:pPr>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Combine patches from multiple training days (187, 196, 205, 212, 223, 240);</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use day 215 exclusively for validation.</a:t>
            </a:r>
          </a:p>
          <a:p>
            <a:pPr>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Apply Z-score normalization using training-set mean and std.</a:t>
            </a:r>
          </a:p>
          <a:p>
            <a:pPr algn="just"/>
            <a:endParaRPr lang="en-US" sz="917" dirty="0">
              <a:latin typeface="Domine" panose="02040503040403060204" pitchFamily="18" charset="0"/>
              <a:ea typeface="Open Sans" panose="020B0606030504020204" pitchFamily="34" charset="0"/>
              <a:cs typeface="Open Sans" panose="020B0606030504020204" pitchFamily="34" charset="0"/>
            </a:endParaRPr>
          </a:p>
          <a:p>
            <a:pPr algn="just"/>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pic>
        <p:nvPicPr>
          <p:cNvPr id="85" name="Picture 84">
            <a:extLst>
              <a:ext uri="{FF2B5EF4-FFF2-40B4-BE49-F238E27FC236}">
                <a16:creationId xmlns:a16="http://schemas.microsoft.com/office/drawing/2014/main" id="{6436D9CB-4B3B-FC19-1A72-0F23AAFCE116}"/>
              </a:ext>
            </a:extLst>
          </p:cNvPr>
          <p:cNvPicPr>
            <a:picLocks noChangeAspect="1"/>
          </p:cNvPicPr>
          <p:nvPr/>
        </p:nvPicPr>
        <p:blipFill>
          <a:blip r:embed="rId7"/>
          <a:stretch>
            <a:fillRect/>
          </a:stretch>
        </p:blipFill>
        <p:spPr>
          <a:xfrm>
            <a:off x="5438775" y="2194117"/>
            <a:ext cx="2736840" cy="1410364"/>
          </a:xfrm>
          <a:prstGeom prst="rect">
            <a:avLst/>
          </a:prstGeom>
        </p:spPr>
      </p:pic>
      <p:sp>
        <p:nvSpPr>
          <p:cNvPr id="86" name="TextBox 85">
            <a:extLst>
              <a:ext uri="{FF2B5EF4-FFF2-40B4-BE49-F238E27FC236}">
                <a16:creationId xmlns:a16="http://schemas.microsoft.com/office/drawing/2014/main" id="{C9A623F7-6459-C86A-C571-5AD07101BD7B}"/>
              </a:ext>
            </a:extLst>
          </p:cNvPr>
          <p:cNvSpPr txBox="1"/>
          <p:nvPr/>
        </p:nvSpPr>
        <p:spPr>
          <a:xfrm>
            <a:off x="5377343" y="3925912"/>
            <a:ext cx="3150906" cy="261610"/>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Methodology</a:t>
            </a:r>
          </a:p>
        </p:txBody>
      </p:sp>
      <p:sp>
        <p:nvSpPr>
          <p:cNvPr id="91" name="TextBox 90">
            <a:extLst>
              <a:ext uri="{FF2B5EF4-FFF2-40B4-BE49-F238E27FC236}">
                <a16:creationId xmlns:a16="http://schemas.microsoft.com/office/drawing/2014/main" id="{3661FAB6-F0F9-CB7E-5C6C-993336C2B55B}"/>
              </a:ext>
            </a:extLst>
          </p:cNvPr>
          <p:cNvSpPr txBox="1"/>
          <p:nvPr/>
        </p:nvSpPr>
        <p:spPr>
          <a:xfrm>
            <a:off x="5405219" y="4130600"/>
            <a:ext cx="4580997" cy="724814"/>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sz="1000" b="1" dirty="0">
                <a:solidFill>
                  <a:schemeClr val="tx1">
                    <a:lumMod val="75000"/>
                    <a:lumOff val="25000"/>
                  </a:schemeClr>
                </a:solidFill>
                <a:latin typeface="Montserrat Extra Bold" panose="00000900000000000000" pitchFamily="50" charset="0"/>
              </a:rPr>
              <a:t>Overview</a:t>
            </a:r>
          </a:p>
          <a:p>
            <a:pPr marR="0">
              <a:lnSpc>
                <a:spcPct val="150000"/>
              </a:lnSpc>
              <a:spcBef>
                <a:spcPts val="0"/>
              </a:spcBef>
              <a:spcAft>
                <a:spcPts val="0"/>
              </a:spcAft>
            </a:pPr>
            <a:r>
              <a:rPr lang="en-US" altLang="zh-CN" sz="917" dirty="0">
                <a:latin typeface="Domine" panose="02040503040403060204" pitchFamily="18" charset="0"/>
                <a:ea typeface="Open Sans" panose="020B0606030504020204" pitchFamily="34" charset="0"/>
                <a:cs typeface="Open Sans" panose="020B0606030504020204" pitchFamily="34" charset="0"/>
              </a:rPr>
              <a:t>In</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altLang="zh-CN" sz="917" dirty="0">
                <a:latin typeface="Domine" panose="02040503040403060204" pitchFamily="18" charset="0"/>
                <a:ea typeface="Open Sans" panose="020B0606030504020204" pitchFamily="34" charset="0"/>
                <a:cs typeface="Open Sans" panose="020B0606030504020204" pitchFamily="34" charset="0"/>
              </a:rPr>
              <a:t>this</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altLang="zh-CN" sz="917" dirty="0">
                <a:latin typeface="Domine" panose="02040503040403060204" pitchFamily="18" charset="0"/>
                <a:ea typeface="Open Sans" panose="020B0606030504020204" pitchFamily="34" charset="0"/>
                <a:cs typeface="Open Sans" panose="020B0606030504020204" pitchFamily="34" charset="0"/>
              </a:rPr>
              <a:t>project,</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altLang="zh-CN" sz="917" dirty="0">
                <a:latin typeface="Domine" panose="02040503040403060204" pitchFamily="18" charset="0"/>
                <a:ea typeface="Open Sans" panose="020B0606030504020204" pitchFamily="34" charset="0"/>
                <a:cs typeface="Open Sans" panose="020B0606030504020204" pitchFamily="34" charset="0"/>
              </a:rPr>
              <a:t>w</a:t>
            </a:r>
            <a:r>
              <a:rPr lang="en-US" sz="917" dirty="0">
                <a:latin typeface="Domine" panose="02040503040403060204" pitchFamily="18" charset="0"/>
                <a:ea typeface="Open Sans" panose="020B0606030504020204" pitchFamily="34" charset="0"/>
                <a:cs typeface="Open Sans" panose="020B0606030504020204" pitchFamily="34" charset="0"/>
              </a:rPr>
              <a:t>e train a</a:t>
            </a:r>
            <a:r>
              <a:rPr lang="zh-CN" altLang="en-US" sz="917" dirty="0">
                <a:latin typeface="Domine" panose="02040503040403060204" pitchFamily="18"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CNN </a:t>
            </a:r>
            <a:r>
              <a:rPr lang="en-US" altLang="zh-CN" sz="917" dirty="0">
                <a:latin typeface="Domine" panose="02040503040403060204" pitchFamily="18" charset="0"/>
                <a:ea typeface="Open Sans" panose="020B0606030504020204" pitchFamily="34" charset="0"/>
                <a:cs typeface="Open Sans" panose="020B0606030504020204" pitchFamily="34" charset="0"/>
              </a:rPr>
              <a:t>model</a:t>
            </a:r>
            <a:r>
              <a:rPr lang="zh-CN" altLang="en-US" sz="917" dirty="0">
                <a:latin typeface="Domine" panose="02040503040403060204" pitchFamily="18"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to classify each 16 × 16 single-channel LST patch as UHI (1) or non-UHI (0).</a:t>
            </a:r>
          </a:p>
        </p:txBody>
      </p:sp>
      <p:sp>
        <p:nvSpPr>
          <p:cNvPr id="119" name="Rectangle: Rounded Corners 42">
            <a:extLst>
              <a:ext uri="{FF2B5EF4-FFF2-40B4-BE49-F238E27FC236}">
                <a16:creationId xmlns:a16="http://schemas.microsoft.com/office/drawing/2014/main" id="{608A4663-44DB-6970-8F38-1527E92CFB47}"/>
              </a:ext>
            </a:extLst>
          </p:cNvPr>
          <p:cNvSpPr/>
          <p:nvPr/>
        </p:nvSpPr>
        <p:spPr>
          <a:xfrm>
            <a:off x="5314950" y="6214925"/>
            <a:ext cx="4914900" cy="3758092"/>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120" name="TextBox 119">
            <a:extLst>
              <a:ext uri="{FF2B5EF4-FFF2-40B4-BE49-F238E27FC236}">
                <a16:creationId xmlns:a16="http://schemas.microsoft.com/office/drawing/2014/main" id="{956252E0-8116-415C-CF53-765F4D286DA6}"/>
              </a:ext>
            </a:extLst>
          </p:cNvPr>
          <p:cNvSpPr txBox="1"/>
          <p:nvPr/>
        </p:nvSpPr>
        <p:spPr>
          <a:xfrm>
            <a:off x="5438775" y="6282988"/>
            <a:ext cx="3180570" cy="261610"/>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Evaluation &amp; Results</a:t>
            </a:r>
          </a:p>
        </p:txBody>
      </p:sp>
      <p:sp>
        <p:nvSpPr>
          <p:cNvPr id="125" name="TextBox 124">
            <a:extLst>
              <a:ext uri="{FF2B5EF4-FFF2-40B4-BE49-F238E27FC236}">
                <a16:creationId xmlns:a16="http://schemas.microsoft.com/office/drawing/2014/main" id="{19B09CB7-4238-D925-78EE-2AB8361747FF}"/>
              </a:ext>
            </a:extLst>
          </p:cNvPr>
          <p:cNvSpPr txBox="1"/>
          <p:nvPr/>
        </p:nvSpPr>
        <p:spPr>
          <a:xfrm>
            <a:off x="5438775" y="6458618"/>
            <a:ext cx="4580997" cy="1148263"/>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sz="1000" b="1" dirty="0">
                <a:solidFill>
                  <a:schemeClr val="tx1">
                    <a:lumMod val="75000"/>
                    <a:lumOff val="25000"/>
                  </a:schemeClr>
                </a:solidFill>
                <a:latin typeface="Montserrat Extra Bold" panose="00000900000000000000" pitchFamily="50" charset="0"/>
              </a:rPr>
              <a:t>Classification Metrics</a:t>
            </a:r>
          </a:p>
          <a:p>
            <a:pPr marR="0">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The CNN accurately distinguishes coherent UHI clusters from non-UHI regions, with near-perfect detection across both classes.</a:t>
            </a:r>
          </a:p>
          <a:p>
            <a:pPr marR="0">
              <a:lnSpc>
                <a:spcPct val="150000"/>
              </a:lnSpc>
              <a:spcBef>
                <a:spcPts val="0"/>
              </a:spcBef>
              <a:spcAft>
                <a:spcPts val="0"/>
              </a:spcAft>
            </a:pPr>
            <a:br>
              <a:rPr lang="en-US" sz="917" dirty="0">
                <a:latin typeface="Domine" panose="02040503040403060204" pitchFamily="18" charset="0"/>
                <a:ea typeface="Open Sans" panose="020B0606030504020204" pitchFamily="34" charset="0"/>
                <a:cs typeface="Open Sans" panose="020B0606030504020204" pitchFamily="34" charset="0"/>
              </a:rPr>
            </a:br>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graphicFrame>
        <p:nvGraphicFramePr>
          <p:cNvPr id="127" name="Table 126">
            <a:extLst>
              <a:ext uri="{FF2B5EF4-FFF2-40B4-BE49-F238E27FC236}">
                <a16:creationId xmlns:a16="http://schemas.microsoft.com/office/drawing/2014/main" id="{A5EDD33C-6475-2E33-8E86-D71B2B8F4D99}"/>
              </a:ext>
            </a:extLst>
          </p:cNvPr>
          <p:cNvGraphicFramePr>
            <a:graphicFrameLocks noGrp="1"/>
          </p:cNvGraphicFramePr>
          <p:nvPr>
            <p:extLst>
              <p:ext uri="{D42A27DB-BD31-4B8C-83A1-F6EECF244321}">
                <p14:modId xmlns:p14="http://schemas.microsoft.com/office/powerpoint/2010/main" val="3646345156"/>
              </p:ext>
            </p:extLst>
          </p:nvPr>
        </p:nvGraphicFramePr>
        <p:xfrm>
          <a:off x="5521998" y="7222172"/>
          <a:ext cx="4127500" cy="609600"/>
        </p:xfrm>
        <a:graphic>
          <a:graphicData uri="http://schemas.openxmlformats.org/drawingml/2006/table">
            <a:tbl>
              <a:tblPr firstRow="1" firstCol="1" bandRow="1">
                <a:tableStyleId>{3C2FFA5D-87B4-456A-9821-1D502468CF0F}</a:tableStyleId>
              </a:tblPr>
              <a:tblGrid>
                <a:gridCol w="825500">
                  <a:extLst>
                    <a:ext uri="{9D8B030D-6E8A-4147-A177-3AD203B41FA5}">
                      <a16:colId xmlns:a16="http://schemas.microsoft.com/office/drawing/2014/main" val="3474310940"/>
                    </a:ext>
                  </a:extLst>
                </a:gridCol>
                <a:gridCol w="825500">
                  <a:extLst>
                    <a:ext uri="{9D8B030D-6E8A-4147-A177-3AD203B41FA5}">
                      <a16:colId xmlns:a16="http://schemas.microsoft.com/office/drawing/2014/main" val="2118526456"/>
                    </a:ext>
                  </a:extLst>
                </a:gridCol>
                <a:gridCol w="825500">
                  <a:extLst>
                    <a:ext uri="{9D8B030D-6E8A-4147-A177-3AD203B41FA5}">
                      <a16:colId xmlns:a16="http://schemas.microsoft.com/office/drawing/2014/main" val="3574416714"/>
                    </a:ext>
                  </a:extLst>
                </a:gridCol>
                <a:gridCol w="825500">
                  <a:extLst>
                    <a:ext uri="{9D8B030D-6E8A-4147-A177-3AD203B41FA5}">
                      <a16:colId xmlns:a16="http://schemas.microsoft.com/office/drawing/2014/main" val="1316677326"/>
                    </a:ext>
                  </a:extLst>
                </a:gridCol>
                <a:gridCol w="825500">
                  <a:extLst>
                    <a:ext uri="{9D8B030D-6E8A-4147-A177-3AD203B41FA5}">
                      <a16:colId xmlns:a16="http://schemas.microsoft.com/office/drawing/2014/main" val="1664415585"/>
                    </a:ext>
                  </a:extLst>
                </a:gridCol>
              </a:tblGrid>
              <a:tr h="203200">
                <a:tc>
                  <a:txBody>
                    <a:bodyPr/>
                    <a:lstStyle/>
                    <a:p>
                      <a:pPr marL="0" marR="0">
                        <a:spcBef>
                          <a:spcPts val="0"/>
                        </a:spcBef>
                        <a:spcAft>
                          <a:spcPts val="0"/>
                        </a:spcAft>
                      </a:pPr>
                      <a:r>
                        <a:rPr lang="en-US" sz="1200" kern="0" dirty="0">
                          <a:effectLst/>
                        </a:rPr>
                        <a:t>Class</a:t>
                      </a:r>
                      <a:endParaRPr lang="en-US" sz="12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1200" kern="0">
                          <a:effectLst/>
                        </a:rPr>
                        <a:t>Precision</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1200" kern="0">
                          <a:effectLst/>
                        </a:rPr>
                        <a:t>Recall</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1200" kern="0">
                          <a:effectLst/>
                        </a:rPr>
                        <a:t>F1-score</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1200" kern="0">
                          <a:effectLst/>
                        </a:rPr>
                        <a:t>Support</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231051433"/>
                  </a:ext>
                </a:extLst>
              </a:tr>
              <a:tr h="203200">
                <a:tc>
                  <a:txBody>
                    <a:bodyPr/>
                    <a:lstStyle/>
                    <a:p>
                      <a:pPr marL="0" marR="0">
                        <a:spcBef>
                          <a:spcPts val="0"/>
                        </a:spcBef>
                        <a:spcAft>
                          <a:spcPts val="0"/>
                        </a:spcAft>
                      </a:pPr>
                      <a:r>
                        <a:rPr lang="en-US" sz="1200" kern="0">
                          <a:effectLst/>
                        </a:rPr>
                        <a:t>Non-UHI</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a:effectLst/>
                        </a:rPr>
                        <a:t>1</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a:effectLst/>
                        </a:rPr>
                        <a:t>0.98</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dirty="0">
                          <a:effectLst/>
                        </a:rPr>
                        <a:t>0.99</a:t>
                      </a:r>
                      <a:endParaRPr lang="en-US" sz="12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a:effectLst/>
                        </a:rPr>
                        <a:t>424</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004134244"/>
                  </a:ext>
                </a:extLst>
              </a:tr>
              <a:tr h="203200">
                <a:tc>
                  <a:txBody>
                    <a:bodyPr/>
                    <a:lstStyle/>
                    <a:p>
                      <a:pPr marL="0" marR="0">
                        <a:spcBef>
                          <a:spcPts val="0"/>
                        </a:spcBef>
                        <a:spcAft>
                          <a:spcPts val="0"/>
                        </a:spcAft>
                      </a:pPr>
                      <a:r>
                        <a:rPr lang="en-US" sz="1200" kern="0">
                          <a:effectLst/>
                        </a:rPr>
                        <a:t>UHI</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a:effectLst/>
                        </a:rPr>
                        <a:t>0.98</a:t>
                      </a:r>
                      <a:endParaRPr lang="en-US" sz="12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dirty="0">
                          <a:effectLst/>
                        </a:rPr>
                        <a:t>1</a:t>
                      </a:r>
                      <a:endParaRPr lang="en-US" sz="12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dirty="0">
                          <a:effectLst/>
                        </a:rPr>
                        <a:t>0.99</a:t>
                      </a:r>
                      <a:endParaRPr lang="en-US" sz="12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1200" kern="0" dirty="0">
                          <a:effectLst/>
                        </a:rPr>
                        <a:t>343</a:t>
                      </a:r>
                      <a:endParaRPr lang="en-US" sz="12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82999450"/>
                  </a:ext>
                </a:extLst>
              </a:tr>
            </a:tbl>
          </a:graphicData>
        </a:graphic>
      </p:graphicFrame>
      <p:sp>
        <p:nvSpPr>
          <p:cNvPr id="128" name="Rectangle: Rounded Corners 42">
            <a:extLst>
              <a:ext uri="{FF2B5EF4-FFF2-40B4-BE49-F238E27FC236}">
                <a16:creationId xmlns:a16="http://schemas.microsoft.com/office/drawing/2014/main" id="{2C239873-8449-1D1C-4D8F-13511093639D}"/>
              </a:ext>
            </a:extLst>
          </p:cNvPr>
          <p:cNvSpPr/>
          <p:nvPr/>
        </p:nvSpPr>
        <p:spPr>
          <a:xfrm>
            <a:off x="10444818" y="2052596"/>
            <a:ext cx="4914900" cy="2359748"/>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129" name="TextBox 128">
            <a:extLst>
              <a:ext uri="{FF2B5EF4-FFF2-40B4-BE49-F238E27FC236}">
                <a16:creationId xmlns:a16="http://schemas.microsoft.com/office/drawing/2014/main" id="{D13AF6D5-BA71-85CC-D648-7029B00328F3}"/>
              </a:ext>
            </a:extLst>
          </p:cNvPr>
          <p:cNvSpPr txBox="1"/>
          <p:nvPr/>
        </p:nvSpPr>
        <p:spPr>
          <a:xfrm>
            <a:off x="12521077" y="2092504"/>
            <a:ext cx="2563993" cy="1148263"/>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altLang="zh-CN" sz="1000" b="1" dirty="0">
                <a:solidFill>
                  <a:schemeClr val="tx1">
                    <a:lumMod val="75000"/>
                    <a:lumOff val="25000"/>
                  </a:schemeClr>
                </a:solidFill>
                <a:latin typeface="Montserrat Extra Bold" panose="00000900000000000000" pitchFamily="50" charset="0"/>
              </a:rPr>
              <a:t>ROC</a:t>
            </a:r>
            <a:r>
              <a:rPr lang="zh-CN" altLang="en-US" sz="1000" b="1" dirty="0">
                <a:solidFill>
                  <a:schemeClr val="tx1">
                    <a:lumMod val="75000"/>
                    <a:lumOff val="25000"/>
                  </a:schemeClr>
                </a:solidFill>
                <a:latin typeface="Montserrat Extra Bold" panose="00000900000000000000" pitchFamily="50" charset="0"/>
              </a:rPr>
              <a:t> </a:t>
            </a:r>
            <a:r>
              <a:rPr lang="en-US" altLang="zh-CN" sz="1000" b="1" dirty="0">
                <a:solidFill>
                  <a:schemeClr val="tx1">
                    <a:lumMod val="75000"/>
                    <a:lumOff val="25000"/>
                  </a:schemeClr>
                </a:solidFill>
                <a:latin typeface="Montserrat Extra Bold" panose="00000900000000000000" pitchFamily="50" charset="0"/>
              </a:rPr>
              <a:t>Curve</a:t>
            </a:r>
            <a:endParaRPr lang="en-US" sz="1000" b="1" dirty="0">
              <a:solidFill>
                <a:schemeClr val="tx1">
                  <a:lumMod val="75000"/>
                  <a:lumOff val="25000"/>
                </a:schemeClr>
              </a:solidFill>
              <a:latin typeface="Montserrat Extra Bold" panose="00000900000000000000" pitchFamily="50" charset="0"/>
            </a:endParaRPr>
          </a:p>
          <a:p>
            <a:pPr marR="0">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The ROC curve shows AUC = 1.000, indicating near-perfect class separability on the validation set.</a:t>
            </a:r>
            <a:r>
              <a:rPr lang="zh-CN" altLang="en-US" sz="917" dirty="0">
                <a:latin typeface="Domine" panose="02040503040403060204" pitchFamily="18" charset="0"/>
                <a:ea typeface="Open Sans" panose="020B0606030504020204" pitchFamily="34" charset="0"/>
                <a:cs typeface="Open Sans" panose="020B0606030504020204" pitchFamily="34" charset="0"/>
              </a:rPr>
              <a:t> </a:t>
            </a:r>
            <a:br>
              <a:rPr lang="en-US" sz="917" dirty="0">
                <a:latin typeface="Domine" panose="02040503040403060204" pitchFamily="18" charset="0"/>
                <a:ea typeface="Open Sans" panose="020B0606030504020204" pitchFamily="34" charset="0"/>
                <a:cs typeface="Open Sans" panose="020B0606030504020204" pitchFamily="34" charset="0"/>
              </a:rPr>
            </a:br>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pic>
        <p:nvPicPr>
          <p:cNvPr id="131" name="Picture 130">
            <a:extLst>
              <a:ext uri="{FF2B5EF4-FFF2-40B4-BE49-F238E27FC236}">
                <a16:creationId xmlns:a16="http://schemas.microsoft.com/office/drawing/2014/main" id="{3D07060C-1288-D3F7-DD1F-B1C35BD1B37E}"/>
              </a:ext>
            </a:extLst>
          </p:cNvPr>
          <p:cNvPicPr>
            <a:picLocks noChangeAspect="1"/>
          </p:cNvPicPr>
          <p:nvPr/>
        </p:nvPicPr>
        <p:blipFill>
          <a:blip r:embed="rId8"/>
          <a:stretch>
            <a:fillRect/>
          </a:stretch>
        </p:blipFill>
        <p:spPr>
          <a:xfrm>
            <a:off x="10542265" y="2141147"/>
            <a:ext cx="1978812" cy="1726768"/>
          </a:xfrm>
          <a:prstGeom prst="rect">
            <a:avLst/>
          </a:prstGeom>
        </p:spPr>
      </p:pic>
      <p:pic>
        <p:nvPicPr>
          <p:cNvPr id="133" name="Picture 132">
            <a:extLst>
              <a:ext uri="{FF2B5EF4-FFF2-40B4-BE49-F238E27FC236}">
                <a16:creationId xmlns:a16="http://schemas.microsoft.com/office/drawing/2014/main" id="{274F734D-3AA9-736E-AA3B-03F55BF2A678}"/>
              </a:ext>
            </a:extLst>
          </p:cNvPr>
          <p:cNvPicPr>
            <a:picLocks noChangeAspect="1"/>
          </p:cNvPicPr>
          <p:nvPr/>
        </p:nvPicPr>
        <p:blipFill>
          <a:blip r:embed="rId9"/>
          <a:stretch>
            <a:fillRect/>
          </a:stretch>
        </p:blipFill>
        <p:spPr>
          <a:xfrm>
            <a:off x="12934950" y="2813581"/>
            <a:ext cx="2150120" cy="1118828"/>
          </a:xfrm>
          <a:prstGeom prst="rect">
            <a:avLst/>
          </a:prstGeom>
        </p:spPr>
      </p:pic>
      <p:sp>
        <p:nvSpPr>
          <p:cNvPr id="134" name="TextBox 133">
            <a:extLst>
              <a:ext uri="{FF2B5EF4-FFF2-40B4-BE49-F238E27FC236}">
                <a16:creationId xmlns:a16="http://schemas.microsoft.com/office/drawing/2014/main" id="{8D6A7698-BCAC-22B9-A43E-01EF6CD55974}"/>
              </a:ext>
            </a:extLst>
          </p:cNvPr>
          <p:cNvSpPr txBox="1"/>
          <p:nvPr/>
        </p:nvSpPr>
        <p:spPr>
          <a:xfrm>
            <a:off x="10567769" y="3894725"/>
            <a:ext cx="4697776" cy="705706"/>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This confirms that the learned features produce discriminative, stable predictions across temperature variations.</a:t>
            </a:r>
            <a:br>
              <a:rPr lang="en-US" sz="917" dirty="0">
                <a:latin typeface="Domine" panose="02040503040403060204" pitchFamily="18" charset="0"/>
                <a:ea typeface="Open Sans" panose="020B0606030504020204" pitchFamily="34" charset="0"/>
                <a:cs typeface="Open Sans" panose="020B0606030504020204" pitchFamily="34" charset="0"/>
              </a:rPr>
            </a:br>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sp>
        <p:nvSpPr>
          <p:cNvPr id="135" name="Rectangle: Rounded Corners 43">
            <a:extLst>
              <a:ext uri="{FF2B5EF4-FFF2-40B4-BE49-F238E27FC236}">
                <a16:creationId xmlns:a16="http://schemas.microsoft.com/office/drawing/2014/main" id="{59CB71BB-5463-5E68-DDC3-6E871F5A95D1}"/>
              </a:ext>
            </a:extLst>
          </p:cNvPr>
          <p:cNvSpPr/>
          <p:nvPr/>
        </p:nvSpPr>
        <p:spPr>
          <a:xfrm>
            <a:off x="10464240" y="4567562"/>
            <a:ext cx="4914900" cy="1510157"/>
          </a:xfrm>
          <a:prstGeom prst="roundRect">
            <a:avLst>
              <a:gd name="adj" fmla="val 27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136" name="TextBox 135">
            <a:extLst>
              <a:ext uri="{FF2B5EF4-FFF2-40B4-BE49-F238E27FC236}">
                <a16:creationId xmlns:a16="http://schemas.microsoft.com/office/drawing/2014/main" id="{B79D2B1F-226B-B601-46A4-F3C8823786C9}"/>
              </a:ext>
            </a:extLst>
          </p:cNvPr>
          <p:cNvSpPr txBox="1"/>
          <p:nvPr/>
        </p:nvSpPr>
        <p:spPr>
          <a:xfrm>
            <a:off x="10450715" y="4571655"/>
            <a:ext cx="5099982" cy="1510157"/>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Discussion</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The CNN successfully learns spatial thermal patterns instead of relying solely on pixel-level thresholds.</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Results generalize well to an unseen day (Day 215) despite daily LST variations, demonstrating temporal robustness.</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Spatial aggregation of patch outputs could support city-scale UHI mapping and heat mitigation planning.</a:t>
            </a:r>
          </a:p>
        </p:txBody>
      </p:sp>
      <p:sp>
        <p:nvSpPr>
          <p:cNvPr id="137" name="Rectangle: Rounded Corners 42">
            <a:extLst>
              <a:ext uri="{FF2B5EF4-FFF2-40B4-BE49-F238E27FC236}">
                <a16:creationId xmlns:a16="http://schemas.microsoft.com/office/drawing/2014/main" id="{B26F2566-0510-7CDE-3C85-B26D9347697B}"/>
              </a:ext>
            </a:extLst>
          </p:cNvPr>
          <p:cNvSpPr/>
          <p:nvPr/>
        </p:nvSpPr>
        <p:spPr>
          <a:xfrm>
            <a:off x="10464240" y="6133891"/>
            <a:ext cx="4914900" cy="1172824"/>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pic>
        <p:nvPicPr>
          <p:cNvPr id="139" name="Picture 138">
            <a:extLst>
              <a:ext uri="{FF2B5EF4-FFF2-40B4-BE49-F238E27FC236}">
                <a16:creationId xmlns:a16="http://schemas.microsoft.com/office/drawing/2014/main" id="{97BACAB3-A745-D888-5951-5832D66CEF33}"/>
              </a:ext>
            </a:extLst>
          </p:cNvPr>
          <p:cNvPicPr>
            <a:picLocks noChangeAspect="1"/>
          </p:cNvPicPr>
          <p:nvPr/>
        </p:nvPicPr>
        <p:blipFill>
          <a:blip r:embed="rId10"/>
          <a:stretch>
            <a:fillRect/>
          </a:stretch>
        </p:blipFill>
        <p:spPr>
          <a:xfrm>
            <a:off x="8075882" y="7972422"/>
            <a:ext cx="2091575" cy="1849974"/>
          </a:xfrm>
          <a:prstGeom prst="rect">
            <a:avLst/>
          </a:prstGeom>
        </p:spPr>
      </p:pic>
      <p:sp>
        <p:nvSpPr>
          <p:cNvPr id="141" name="TextBox 140">
            <a:extLst>
              <a:ext uri="{FF2B5EF4-FFF2-40B4-BE49-F238E27FC236}">
                <a16:creationId xmlns:a16="http://schemas.microsoft.com/office/drawing/2014/main" id="{735E27AD-35AB-C957-485B-341C21F66685}"/>
              </a:ext>
            </a:extLst>
          </p:cNvPr>
          <p:cNvSpPr txBox="1"/>
          <p:nvPr/>
        </p:nvSpPr>
        <p:spPr>
          <a:xfrm>
            <a:off x="5438775" y="7900339"/>
            <a:ext cx="2563993" cy="1359988"/>
          </a:xfrm>
          <a:prstGeom prst="rect">
            <a:avLst/>
          </a:prstGeom>
          <a:noFill/>
        </p:spPr>
        <p:txBody>
          <a:bodyPr wrap="square" rtlCol="0">
            <a:spAutoFit/>
          </a:bodyPr>
          <a:lstStyle>
            <a:defPPr>
              <a:defRPr kern="1200"/>
            </a:defPPr>
          </a:lstStyle>
          <a:p>
            <a:pPr marR="0">
              <a:lnSpc>
                <a:spcPct val="150000"/>
              </a:lnSpc>
              <a:spcBef>
                <a:spcPts val="0"/>
              </a:spcBef>
              <a:spcAft>
                <a:spcPts val="0"/>
              </a:spcAft>
            </a:pPr>
            <a:r>
              <a:rPr lang="en-US" sz="1000" b="1" dirty="0">
                <a:solidFill>
                  <a:schemeClr val="tx1">
                    <a:lumMod val="75000"/>
                    <a:lumOff val="25000"/>
                  </a:schemeClr>
                </a:solidFill>
                <a:latin typeface="Montserrat Extra Bold" panose="00000900000000000000" pitchFamily="50" charset="0"/>
              </a:rPr>
              <a:t>Confusion Matrix </a:t>
            </a:r>
          </a:p>
          <a:p>
            <a:pPr marR="0">
              <a:lnSpc>
                <a:spcPct val="150000"/>
              </a:lnSpc>
              <a:spcBef>
                <a:spcPts val="0"/>
              </a:spcBef>
              <a:spcAft>
                <a:spcPts val="0"/>
              </a:spcAft>
            </a:pPr>
            <a:r>
              <a:rPr lang="en-US" sz="917" dirty="0">
                <a:latin typeface="Domine" panose="02040503040403060204" pitchFamily="18" charset="0"/>
                <a:ea typeface="Open Sans" panose="020B0606030504020204" pitchFamily="34" charset="0"/>
                <a:cs typeface="Open Sans" panose="020B0606030504020204" pitchFamily="34" charset="0"/>
              </a:rPr>
              <a:t>The model achieves high sensitivity and high specificity , confirming robust generalization to unseen days.</a:t>
            </a:r>
          </a:p>
          <a:p>
            <a:pPr marR="0">
              <a:lnSpc>
                <a:spcPct val="150000"/>
              </a:lnSpc>
              <a:spcBef>
                <a:spcPts val="0"/>
              </a:spcBef>
              <a:spcAft>
                <a:spcPts val="0"/>
              </a:spcAft>
            </a:pPr>
            <a:br>
              <a:rPr lang="en-US" sz="917" dirty="0">
                <a:latin typeface="Domine" panose="02040503040403060204" pitchFamily="18" charset="0"/>
                <a:ea typeface="Open Sans" panose="020B0606030504020204" pitchFamily="34" charset="0"/>
                <a:cs typeface="Open Sans" panose="020B0606030504020204" pitchFamily="34" charset="0"/>
              </a:rPr>
            </a:br>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pic>
        <p:nvPicPr>
          <p:cNvPr id="143" name="Picture 142">
            <a:extLst>
              <a:ext uri="{FF2B5EF4-FFF2-40B4-BE49-F238E27FC236}">
                <a16:creationId xmlns:a16="http://schemas.microsoft.com/office/drawing/2014/main" id="{6A35CFCA-CF04-EC4D-5003-83B8CEA82D7C}"/>
              </a:ext>
            </a:extLst>
          </p:cNvPr>
          <p:cNvPicPr>
            <a:picLocks noChangeAspect="1"/>
          </p:cNvPicPr>
          <p:nvPr/>
        </p:nvPicPr>
        <p:blipFill>
          <a:blip r:embed="rId11"/>
          <a:stretch>
            <a:fillRect/>
          </a:stretch>
        </p:blipFill>
        <p:spPr>
          <a:xfrm>
            <a:off x="5534669" y="8893141"/>
            <a:ext cx="1197492" cy="916447"/>
          </a:xfrm>
          <a:prstGeom prst="rect">
            <a:avLst/>
          </a:prstGeom>
        </p:spPr>
      </p:pic>
      <p:pic>
        <p:nvPicPr>
          <p:cNvPr id="145" name="Picture 144">
            <a:extLst>
              <a:ext uri="{FF2B5EF4-FFF2-40B4-BE49-F238E27FC236}">
                <a16:creationId xmlns:a16="http://schemas.microsoft.com/office/drawing/2014/main" id="{2E65DF99-87C6-E4A0-B5E1-D96FC50D256E}"/>
              </a:ext>
            </a:extLst>
          </p:cNvPr>
          <p:cNvPicPr>
            <a:picLocks noChangeAspect="1"/>
          </p:cNvPicPr>
          <p:nvPr/>
        </p:nvPicPr>
        <p:blipFill>
          <a:blip r:embed="rId12"/>
          <a:stretch>
            <a:fillRect/>
          </a:stretch>
        </p:blipFill>
        <p:spPr>
          <a:xfrm>
            <a:off x="6805276" y="8893141"/>
            <a:ext cx="1197492" cy="923067"/>
          </a:xfrm>
          <a:prstGeom prst="rect">
            <a:avLst/>
          </a:prstGeom>
        </p:spPr>
      </p:pic>
      <p:sp>
        <p:nvSpPr>
          <p:cNvPr id="146" name="TextBox 145">
            <a:extLst>
              <a:ext uri="{FF2B5EF4-FFF2-40B4-BE49-F238E27FC236}">
                <a16:creationId xmlns:a16="http://schemas.microsoft.com/office/drawing/2014/main" id="{56272F53-9EE0-9002-83FF-E96522314FC0}"/>
              </a:ext>
            </a:extLst>
          </p:cNvPr>
          <p:cNvSpPr txBox="1"/>
          <p:nvPr/>
        </p:nvSpPr>
        <p:spPr>
          <a:xfrm>
            <a:off x="10462760" y="6160646"/>
            <a:ext cx="5099982" cy="1086708"/>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Limitations</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Labels are derived from a fixed 303 K threshold, rather than human-validated UHI ground truth.</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1 km MODIS resolution is coarse and cannot capture neighborhood-scale or street-level micro-UHIs.</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Cloud contamination and missing pixels require </a:t>
            </a:r>
            <a:r>
              <a:rPr lang="en-US" sz="917" dirty="0" err="1">
                <a:latin typeface="Domine" panose="02040503040403060204" pitchFamily="18" charset="0"/>
                <a:ea typeface="Open Sans" panose="020B0606030504020204" pitchFamily="34" charset="0"/>
                <a:cs typeface="Open Sans" panose="020B0606030504020204" pitchFamily="34" charset="0"/>
              </a:rPr>
              <a:t>NaN</a:t>
            </a:r>
            <a:r>
              <a:rPr lang="en-US" sz="917" dirty="0">
                <a:latin typeface="Domine" panose="02040503040403060204" pitchFamily="18" charset="0"/>
                <a:ea typeface="Open Sans" panose="020B0606030504020204" pitchFamily="34" charset="0"/>
                <a:cs typeface="Open Sans" panose="020B0606030504020204" pitchFamily="34" charset="0"/>
              </a:rPr>
              <a:t> handling that may introduce slight bias.</a:t>
            </a:r>
          </a:p>
        </p:txBody>
      </p:sp>
      <p:sp>
        <p:nvSpPr>
          <p:cNvPr id="153" name="Rectangle: Rounded Corners 43">
            <a:extLst>
              <a:ext uri="{FF2B5EF4-FFF2-40B4-BE49-F238E27FC236}">
                <a16:creationId xmlns:a16="http://schemas.microsoft.com/office/drawing/2014/main" id="{2B8A13F6-0CD0-0EC2-5D4D-0B86BA3F4014}"/>
              </a:ext>
            </a:extLst>
          </p:cNvPr>
          <p:cNvSpPr/>
          <p:nvPr/>
        </p:nvSpPr>
        <p:spPr>
          <a:xfrm>
            <a:off x="10452102" y="7370084"/>
            <a:ext cx="4914900" cy="1145395"/>
          </a:xfrm>
          <a:prstGeom prst="roundRect">
            <a:avLst>
              <a:gd name="adj" fmla="val 27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154" name="TextBox 153">
            <a:extLst>
              <a:ext uri="{FF2B5EF4-FFF2-40B4-BE49-F238E27FC236}">
                <a16:creationId xmlns:a16="http://schemas.microsoft.com/office/drawing/2014/main" id="{8F2A23F8-25C4-6DB5-C7B9-19CA45117B21}"/>
              </a:ext>
            </a:extLst>
          </p:cNvPr>
          <p:cNvSpPr txBox="1"/>
          <p:nvPr/>
        </p:nvSpPr>
        <p:spPr>
          <a:xfrm>
            <a:off x="10467036" y="7319760"/>
            <a:ext cx="5099982" cy="1677895"/>
          </a:xfrm>
          <a:prstGeom prst="rect">
            <a:avLst/>
          </a:prstGeom>
          <a:noFill/>
        </p:spPr>
        <p:txBody>
          <a:bodyPr wrap="square" rtlCol="0">
            <a:spAutoFit/>
          </a:bodyPr>
          <a:lstStyle>
            <a:defPPr>
              <a:defRPr kern="1200"/>
            </a:defPPr>
          </a:lstStyle>
          <a:p>
            <a:pPr>
              <a:lnSpc>
                <a:spcPct val="150000"/>
              </a:lnSpc>
            </a:pPr>
            <a:r>
              <a:rPr lang="en-US" sz="1000" b="1" dirty="0">
                <a:solidFill>
                  <a:schemeClr val="tx1">
                    <a:lumMod val="75000"/>
                    <a:lumOff val="25000"/>
                  </a:schemeClr>
                </a:solidFill>
                <a:latin typeface="Montserrat Extra Bold" panose="00000900000000000000" pitchFamily="50" charset="0"/>
              </a:rPr>
              <a:t>Future </a:t>
            </a:r>
            <a:r>
              <a:rPr lang="en-US" altLang="zh-CN" sz="1000" b="1" dirty="0">
                <a:solidFill>
                  <a:schemeClr val="tx1">
                    <a:lumMod val="75000"/>
                    <a:lumOff val="25000"/>
                  </a:schemeClr>
                </a:solidFill>
                <a:latin typeface="Montserrat Extra Bold" panose="00000900000000000000" pitchFamily="50" charset="0"/>
              </a:rPr>
              <a:t>Work</a:t>
            </a:r>
            <a:endParaRPr lang="en-US" sz="917" dirty="0">
              <a:latin typeface="Domine" panose="02040503040403060204" pitchFamily="18" charset="0"/>
              <a:ea typeface="Open Sans" panose="020B0606030504020204" pitchFamily="34" charset="0"/>
              <a:cs typeface="Open Sans" panose="020B0606030504020204" pitchFamily="34" charset="0"/>
            </a:endParaRP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Incorporate multi-day LST sequences using temporal models (LSTM, 3D CNNs, Transformers).</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Explore higher-resolution datasets (e.g., Landsat 30m, ECOSTRESS 70m) for finer UHI detection.</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Combine LST with urban morphology features (impervious surface, building density).</a:t>
            </a:r>
          </a:p>
          <a:p>
            <a:pPr marL="171450" indent="-171450">
              <a:lnSpc>
                <a:spcPct val="150000"/>
              </a:lnSpc>
              <a:buFont typeface="Arial" panose="020B0604020202020204" pitchFamily="34" charset="0"/>
              <a:buChar char="•"/>
            </a:pPr>
            <a:r>
              <a:rPr lang="en-US" sz="917" dirty="0">
                <a:latin typeface="Domine" panose="02040503040403060204" pitchFamily="18" charset="0"/>
                <a:ea typeface="Open Sans" panose="020B0606030504020204" pitchFamily="34" charset="0"/>
                <a:cs typeface="Open Sans" panose="020B0606030504020204" pitchFamily="34" charset="0"/>
              </a:rPr>
              <a:t>Test cross-city generalization by applying the model to multiple metropolitan regions.</a:t>
            </a:r>
          </a:p>
          <a:p>
            <a:pPr marL="171450" indent="-171450">
              <a:buFont typeface="Arial" panose="020B0604020202020204" pitchFamily="34" charset="0"/>
              <a:buChar char="•"/>
            </a:pPr>
            <a:endParaRPr lang="en-US" sz="1100" b="1" dirty="0">
              <a:solidFill>
                <a:schemeClr val="tx1">
                  <a:lumMod val="75000"/>
                  <a:lumOff val="25000"/>
                </a:schemeClr>
              </a:solidFill>
              <a:latin typeface="Montserrat Extra Bold" panose="00000900000000000000" pitchFamily="50" charset="0"/>
            </a:endParaRPr>
          </a:p>
          <a:p>
            <a:endParaRPr lang="en-US" sz="1100" b="1" dirty="0">
              <a:solidFill>
                <a:schemeClr val="tx1">
                  <a:lumMod val="75000"/>
                  <a:lumOff val="25000"/>
                </a:schemeClr>
              </a:solidFill>
              <a:latin typeface="Montserrat Extra Bold" panose="00000900000000000000" pitchFamily="50" charset="0"/>
            </a:endParaRPr>
          </a:p>
          <a:p>
            <a:endParaRPr lang="en-US" sz="1100" b="1" dirty="0">
              <a:solidFill>
                <a:schemeClr val="tx1">
                  <a:lumMod val="75000"/>
                  <a:lumOff val="25000"/>
                </a:schemeClr>
              </a:solidFill>
              <a:latin typeface="Montserrat Extra Bold" panose="00000900000000000000" pitchFamily="50" charset="0"/>
            </a:endParaRPr>
          </a:p>
        </p:txBody>
      </p:sp>
      <p:sp>
        <p:nvSpPr>
          <p:cNvPr id="155" name="Rectangle: Rounded Corners 42">
            <a:extLst>
              <a:ext uri="{FF2B5EF4-FFF2-40B4-BE49-F238E27FC236}">
                <a16:creationId xmlns:a16="http://schemas.microsoft.com/office/drawing/2014/main" id="{D118412A-498A-0200-0250-4210A9E0633D}"/>
              </a:ext>
            </a:extLst>
          </p:cNvPr>
          <p:cNvSpPr/>
          <p:nvPr/>
        </p:nvSpPr>
        <p:spPr>
          <a:xfrm>
            <a:off x="10459207" y="8604015"/>
            <a:ext cx="4914900" cy="1369002"/>
          </a:xfrm>
          <a:prstGeom prst="roundRect">
            <a:avLst>
              <a:gd name="adj" fmla="val 2004"/>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2933"/>
          </a:p>
        </p:txBody>
      </p:sp>
      <p:sp>
        <p:nvSpPr>
          <p:cNvPr id="156" name="TextBox 155">
            <a:extLst>
              <a:ext uri="{FF2B5EF4-FFF2-40B4-BE49-F238E27FC236}">
                <a16:creationId xmlns:a16="http://schemas.microsoft.com/office/drawing/2014/main" id="{A892E508-2010-97FE-EE32-3E3A444E78F0}"/>
              </a:ext>
            </a:extLst>
          </p:cNvPr>
          <p:cNvSpPr txBox="1"/>
          <p:nvPr/>
        </p:nvSpPr>
        <p:spPr>
          <a:xfrm>
            <a:off x="10478574" y="8622087"/>
            <a:ext cx="2572528" cy="261610"/>
          </a:xfrm>
          <a:prstGeom prst="rect">
            <a:avLst/>
          </a:prstGeom>
          <a:noFill/>
        </p:spPr>
        <p:txBody>
          <a:bodyPr wrap="square" rtlCol="0">
            <a:spAutoFit/>
          </a:bodyPr>
          <a:lstStyle>
            <a:defPPr>
              <a:defRPr kern="1200"/>
            </a:defPPr>
          </a:lstStyle>
          <a:p>
            <a:r>
              <a:rPr lang="en-US" sz="1100" b="1" dirty="0">
                <a:solidFill>
                  <a:schemeClr val="tx1">
                    <a:lumMod val="75000"/>
                    <a:lumOff val="25000"/>
                  </a:schemeClr>
                </a:solidFill>
                <a:latin typeface="Montserrat Extra Bold" panose="00000900000000000000" pitchFamily="50" charset="0"/>
              </a:rPr>
              <a:t>Carbon cost</a:t>
            </a:r>
            <a:endParaRPr lang="en-US" sz="1100" dirty="0"/>
          </a:p>
        </p:txBody>
      </p:sp>
      <p:pic>
        <p:nvPicPr>
          <p:cNvPr id="157" name="Picture 156">
            <a:extLst>
              <a:ext uri="{FF2B5EF4-FFF2-40B4-BE49-F238E27FC236}">
                <a16:creationId xmlns:a16="http://schemas.microsoft.com/office/drawing/2014/main" id="{A856C652-1CCE-86EC-DD7D-FBA7B4894F07}"/>
              </a:ext>
            </a:extLst>
          </p:cNvPr>
          <p:cNvPicPr>
            <a:picLocks noChangeAspect="1"/>
          </p:cNvPicPr>
          <p:nvPr/>
        </p:nvPicPr>
        <p:blipFill>
          <a:blip r:embed="rId13"/>
          <a:stretch>
            <a:fillRect/>
          </a:stretch>
        </p:blipFill>
        <p:spPr>
          <a:xfrm>
            <a:off x="13169695" y="8747077"/>
            <a:ext cx="2176939" cy="1136917"/>
          </a:xfrm>
          <a:prstGeom prst="rect">
            <a:avLst/>
          </a:prstGeom>
        </p:spPr>
      </p:pic>
      <p:sp>
        <p:nvSpPr>
          <p:cNvPr id="2" name="TextBox 1">
            <a:extLst>
              <a:ext uri="{FF2B5EF4-FFF2-40B4-BE49-F238E27FC236}">
                <a16:creationId xmlns:a16="http://schemas.microsoft.com/office/drawing/2014/main" id="{9C34E908-0DC6-DDC1-A3AE-C37255C9BD83}"/>
              </a:ext>
            </a:extLst>
          </p:cNvPr>
          <p:cNvSpPr txBox="1"/>
          <p:nvPr/>
        </p:nvSpPr>
        <p:spPr>
          <a:xfrm>
            <a:off x="5377343" y="4886906"/>
            <a:ext cx="4580997" cy="1571712"/>
          </a:xfrm>
          <a:prstGeom prst="rect">
            <a:avLst/>
          </a:prstGeom>
          <a:noFill/>
        </p:spPr>
        <p:txBody>
          <a:bodyPr wrap="square" rtlCol="0">
            <a:spAutoFit/>
          </a:bodyPr>
          <a:lstStyle>
            <a:defPPr>
              <a:defRPr kern="1200"/>
            </a:defPPr>
          </a:lstStyle>
          <a:p>
            <a:pPr>
              <a:lnSpc>
                <a:spcPct val="150000"/>
              </a:lnSpc>
            </a:pPr>
            <a:r>
              <a:rPr lang="en-US" sz="1000" b="1" dirty="0">
                <a:solidFill>
                  <a:schemeClr val="tx1">
                    <a:lumMod val="75000"/>
                    <a:lumOff val="25000"/>
                  </a:schemeClr>
                </a:solidFill>
                <a:latin typeface="Montserrat Extra Bold" panose="00000900000000000000" pitchFamily="50" charset="0"/>
              </a:rPr>
              <a:t>Model Pipeline</a:t>
            </a:r>
          </a:p>
          <a:p>
            <a:pPr>
              <a:lnSpc>
                <a:spcPct val="150000"/>
              </a:lnSpc>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Input: normalized 16×16 LST patch</a:t>
            </a:r>
          </a:p>
          <a:p>
            <a:pPr>
              <a:lnSpc>
                <a:spcPct val="150000"/>
              </a:lnSpc>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Two convolutional blocks for spatial feature extraction</a:t>
            </a:r>
          </a:p>
          <a:p>
            <a:pPr>
              <a:lnSpc>
                <a:spcPct val="150000"/>
              </a:lnSpc>
              <a:buFont typeface="+mj-lt"/>
              <a:buAutoNum type="arabicPeriod"/>
            </a:pPr>
            <a:r>
              <a:rPr lang="en-US" sz="917" dirty="0">
                <a:latin typeface="Domine" panose="02040503040403060204" pitchFamily="18" charset="0"/>
                <a:ea typeface="Open Sans" panose="020B0606030504020204" pitchFamily="34" charset="0"/>
                <a:cs typeface="Open Sans" panose="020B0606030504020204" pitchFamily="34" charset="0"/>
              </a:rPr>
              <a:t>Fully connected classifier → two-class logits</a:t>
            </a:r>
          </a:p>
          <a:p>
            <a:pPr>
              <a:lnSpc>
                <a:spcPct val="150000"/>
              </a:lnSpc>
              <a:buFont typeface="+mj-lt"/>
              <a:buAutoNum type="arabicPeriod"/>
            </a:pPr>
            <a:r>
              <a:rPr lang="en-US" sz="917" dirty="0" err="1">
                <a:latin typeface="Domine" panose="02040503040403060204" pitchFamily="18" charset="0"/>
                <a:ea typeface="Open Sans" panose="020B0606030504020204" pitchFamily="34" charset="0"/>
                <a:cs typeface="Open Sans" panose="020B0606030504020204" pitchFamily="34" charset="0"/>
              </a:rPr>
              <a:t>Softmax</a:t>
            </a:r>
            <a:r>
              <a:rPr lang="en-US" sz="917" dirty="0">
                <a:latin typeface="Domine" panose="02040503040403060204" pitchFamily="18" charset="0"/>
                <a:ea typeface="Open Sans" panose="020B0606030504020204" pitchFamily="34" charset="0"/>
                <a:cs typeface="Open Sans" panose="020B0606030504020204" pitchFamily="34" charset="0"/>
              </a:rPr>
              <a:t> probability for UHI vs non-UHI</a:t>
            </a:r>
          </a:p>
          <a:p>
            <a:pPr marR="0">
              <a:lnSpc>
                <a:spcPct val="150000"/>
              </a:lnSpc>
              <a:spcBef>
                <a:spcPts val="0"/>
              </a:spcBef>
              <a:spcAft>
                <a:spcPts val="0"/>
              </a:spcAft>
            </a:pPr>
            <a:br>
              <a:rPr lang="en-US" sz="917" dirty="0">
                <a:latin typeface="Domine" panose="02040503040403060204" pitchFamily="18" charset="0"/>
                <a:ea typeface="Open Sans" panose="020B0606030504020204" pitchFamily="34" charset="0"/>
                <a:cs typeface="Open Sans" panose="020B0606030504020204" pitchFamily="34" charset="0"/>
              </a:rPr>
            </a:br>
            <a:endParaRPr lang="en-US" altLang="zh-CN" sz="917" dirty="0">
              <a:latin typeface="Domine" panose="02040503040403060204" pitchFamily="18"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7A78C8A2-6356-443F-F957-283079F25349}"/>
              </a:ext>
            </a:extLst>
          </p:cNvPr>
          <p:cNvSpPr txBox="1"/>
          <p:nvPr/>
        </p:nvSpPr>
        <p:spPr>
          <a:xfrm>
            <a:off x="10486307" y="8842805"/>
            <a:ext cx="2572528" cy="1080232"/>
          </a:xfrm>
          <a:prstGeom prst="rect">
            <a:avLst/>
          </a:prstGeom>
          <a:noFill/>
        </p:spPr>
        <p:txBody>
          <a:bodyPr wrap="square" rtlCol="0">
            <a:spAutoFit/>
          </a:bodyPr>
          <a:lstStyle>
            <a:defPPr>
              <a:defRPr kern="1200"/>
            </a:defPPr>
          </a:lstStyle>
          <a:p>
            <a:pPr algn="just"/>
            <a:r>
              <a:rPr lang="en-US" sz="917" dirty="0">
                <a:latin typeface="Domine" panose="02040503040403060204" pitchFamily="18" charset="0"/>
                <a:ea typeface="Open Sans" panose="020B0606030504020204" pitchFamily="34" charset="0"/>
                <a:cs typeface="Open Sans" panose="020B0606030504020204" pitchFamily="34" charset="0"/>
              </a:rPr>
              <a:t>Using </a:t>
            </a:r>
            <a:r>
              <a:rPr lang="en-US" sz="917" dirty="0" err="1">
                <a:latin typeface="Domine" panose="02040503040403060204" pitchFamily="18" charset="0"/>
                <a:ea typeface="Open Sans" panose="020B0606030504020204" pitchFamily="34" charset="0"/>
                <a:cs typeface="Open Sans" panose="020B0606030504020204" pitchFamily="34" charset="0"/>
              </a:rPr>
              <a:t>CodeCarbon</a:t>
            </a:r>
            <a:r>
              <a:rPr lang="en-US" sz="917" dirty="0">
                <a:latin typeface="Domine" panose="02040503040403060204" pitchFamily="18" charset="0"/>
                <a:ea typeface="Open Sans" panose="020B0606030504020204" pitchFamily="34" charset="0"/>
                <a:cs typeface="Open Sans" panose="020B0606030504020204" pitchFamily="34" charset="0"/>
              </a:rPr>
              <a:t>, we tracked energy usage and CO₂ emissions during CNN training</a:t>
            </a:r>
            <a:r>
              <a:rPr lang="en-US" altLang="zh-CN" sz="917" dirty="0">
                <a:latin typeface="Domine" panose="02040503040403060204" pitchFamily="18" charset="0"/>
                <a:ea typeface="Open Sans" panose="020B0606030504020204" pitchFamily="34" charset="0"/>
                <a:cs typeface="Open Sans" panose="020B0606030504020204" pitchFamily="34" charset="0"/>
              </a:rPr>
              <a:t>.</a:t>
            </a:r>
            <a:r>
              <a:rPr lang="zh-CN" altLang="en-US" sz="917" dirty="0">
                <a:latin typeface="Domine" panose="02040503040403060204" pitchFamily="18" charset="0"/>
                <a:ea typeface="Open Sans" panose="020B0606030504020204" pitchFamily="34" charset="0"/>
                <a:cs typeface="Open Sans" panose="020B0606030504020204" pitchFamily="34" charset="0"/>
              </a:rPr>
              <a:t> </a:t>
            </a:r>
            <a:endParaRPr lang="en-US" altLang="zh-CN" sz="917" dirty="0">
              <a:latin typeface="Domine" panose="02040503040403060204" pitchFamily="18" charset="0"/>
              <a:ea typeface="Open Sans" panose="020B0606030504020204" pitchFamily="34" charset="0"/>
              <a:cs typeface="Open Sans" panose="020B0606030504020204" pitchFamily="34" charset="0"/>
            </a:endParaRPr>
          </a:p>
          <a:p>
            <a:pPr algn="just"/>
            <a:endParaRPr lang="en-US" sz="917" dirty="0">
              <a:latin typeface="Domine" panose="02040503040403060204" pitchFamily="18" charset="0"/>
              <a:ea typeface="Open Sans" panose="020B0606030504020204" pitchFamily="34" charset="0"/>
              <a:cs typeface="Open Sans" panose="020B0606030504020204" pitchFamily="34" charset="0"/>
            </a:endParaRPr>
          </a:p>
          <a:p>
            <a:pPr algn="just"/>
            <a:r>
              <a:rPr lang="en-US" sz="917" dirty="0">
                <a:latin typeface="Domine" panose="02040503040403060204" pitchFamily="18" charset="0"/>
                <a:ea typeface="Open Sans" panose="020B0606030504020204" pitchFamily="34" charset="0"/>
                <a:cs typeface="Open Sans" panose="020B0606030504020204" pitchFamily="34" charset="0"/>
              </a:rPr>
              <a:t>The model is extremely lightweight, producing near-zero carbon emissions</a:t>
            </a:r>
            <a:r>
              <a:rPr lang="zh-CN" altLang="en-US" sz="917" dirty="0">
                <a:latin typeface="Domine" panose="02040503040403060204" pitchFamily="18" charset="0"/>
                <a:ea typeface="Open Sans" panose="020B0606030504020204" pitchFamily="34" charset="0"/>
                <a:cs typeface="Open Sans" panose="020B0606030504020204" pitchFamily="34" charset="0"/>
              </a:rPr>
              <a:t> </a:t>
            </a:r>
            <a:r>
              <a:rPr lang="en-US" sz="917" dirty="0">
                <a:latin typeface="Domine" panose="02040503040403060204" pitchFamily="18" charset="0"/>
                <a:ea typeface="Open Sans" panose="020B0606030504020204" pitchFamily="34" charset="0"/>
                <a:cs typeface="Open Sans" panose="020B0606030504020204" pitchFamily="34" charset="0"/>
              </a:rPr>
              <a:t>and is suitable for frequent retraining or deployment in low-resource settings.</a:t>
            </a:r>
          </a:p>
        </p:txBody>
      </p:sp>
    </p:spTree>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TotalTime>
  <Words>759</Words>
  <Application>Microsoft Macintosh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Domine</vt:lpstr>
      <vt:lpstr>Montserrat Extra Bold</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Yuang Li</dc:creator>
  <cp:lastModifiedBy>Yuang Li</cp:lastModifiedBy>
  <cp:revision>14</cp:revision>
  <dcterms:created xsi:type="dcterms:W3CDTF">2025-11-29T20:28:19Z</dcterms:created>
  <dcterms:modified xsi:type="dcterms:W3CDTF">2025-12-02T03:47:18Z</dcterms:modified>
</cp:coreProperties>
</file>